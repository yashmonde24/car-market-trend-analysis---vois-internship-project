
<file path=[Content_Types].xml><?xml version="1.0" encoding="utf-8"?>
<Types xmlns="http://schemas.openxmlformats.org/package/2006/content-types">
  <Default Extension="jfif" ContentType="image/jpeg"/>
  <Default Extension="png" ContentType="image/pn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revisionInfo.xml" ContentType="application/vnd.ms-powerpoint.revisioninfo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47" r:id="rId4"/>
  </p:sldMasterIdLst>
  <p:notesMasterIdLst>
    <p:notesMasterId r:id="rId17"/>
  </p:notesMasterIdLst>
  <p:handoutMasterIdLst>
    <p:handoutMasterId r:id="rId18"/>
  </p:handoutMasterIdLst>
  <p:sldIdLst>
    <p:sldId id="338" r:id="rId5"/>
    <p:sldId id="327" r:id="rId6"/>
    <p:sldId id="315" r:id="rId7"/>
    <p:sldId id="329" r:id="rId8"/>
    <p:sldId id="302" r:id="rId9"/>
    <p:sldId id="339" r:id="rId10"/>
    <p:sldId id="340" r:id="rId11"/>
    <p:sldId id="342" r:id="rId12"/>
    <p:sldId id="341" r:id="rId13"/>
    <p:sldId id="343" r:id="rId14"/>
    <p:sldId id="344" r:id="rId15"/>
    <p:sldId id="304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68" userDrawn="1">
          <p15:clr>
            <a:srgbClr val="A4A3A4"/>
          </p15:clr>
        </p15:guide>
        <p15:guide id="2" pos="408" userDrawn="1">
          <p15:clr>
            <a:srgbClr val="A4A3A4"/>
          </p15:clr>
        </p15:guide>
        <p15:guide id="3" orient="horz" pos="3912" userDrawn="1">
          <p15:clr>
            <a:srgbClr val="A4A3A4"/>
          </p15:clr>
        </p15:guide>
        <p15:guide id="4" pos="7272" userDrawn="1">
          <p15:clr>
            <a:srgbClr val="A4A3A4"/>
          </p15:clr>
        </p15:guide>
        <p15:guide id="5" orient="horz" pos="1656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9D9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D67BBC5-90FB-0B4C-ED85-F72C7BA7CE4A}" v="1" dt="2022-06-06T12:10:26.221"/>
  </p1510:revLst>
</p1510:revInfo>
</file>

<file path=ppt/tableStyles.xml><?xml version="1.0" encoding="utf-8"?>
<a:tblStyleLst xmlns:a="http://schemas.openxmlformats.org/drawingml/2006/main" def="{6E25E649-3F16-4E02-A733-19D2CDBF48F0}"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85" autoAdjust="0"/>
    <p:restoredTop sz="95033" autoAdjust="0"/>
  </p:normalViewPr>
  <p:slideViewPr>
    <p:cSldViewPr snapToGrid="0">
      <p:cViewPr varScale="1">
        <p:scale>
          <a:sx n="89" d="100"/>
          <a:sy n="89" d="100"/>
        </p:scale>
        <p:origin x="370" y="72"/>
      </p:cViewPr>
      <p:guideLst>
        <p:guide orient="horz" pos="1968"/>
        <p:guide pos="408"/>
        <p:guide orient="horz" pos="3912"/>
        <p:guide pos="7272"/>
        <p:guide orient="horz" pos="1656"/>
      </p:guideLst>
    </p:cSldViewPr>
  </p:slideViewPr>
  <p:outlineViewPr>
    <p:cViewPr>
      <p:scale>
        <a:sx n="33" d="100"/>
        <a:sy n="33" d="100"/>
      </p:scale>
      <p:origin x="0" y="-4886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0" d="100"/>
        <a:sy n="110" d="100"/>
      </p:scale>
      <p:origin x="0" y="-965"/>
    </p:cViewPr>
  </p:sorterViewPr>
  <p:notesViewPr>
    <p:cSldViewPr snapToGrid="0">
      <p:cViewPr varScale="1">
        <p:scale>
          <a:sx n="60" d="100"/>
          <a:sy n="60" d="100"/>
        </p:scale>
        <p:origin x="3187" y="4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microsoft.com/office/2015/10/relationships/revisionInfo" Target="revisionInfo.xml"/><Relationship Id="rId10" Type="http://schemas.openxmlformats.org/officeDocument/2006/relationships/slide" Target="slides/slide6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="" xmlns:a16="http://schemas.microsoft.com/office/drawing/2014/main" id="{B76F666D-E0C2-435B-BAA8-9287F9E5D38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="" xmlns:a16="http://schemas.microsoft.com/office/drawing/2014/main" id="{19FEBCAF-CB3F-4928-91AA-D61472F880C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F1077DB-935E-4A0A-947A-D283B9F9F452}" type="datetimeFigureOut">
              <a:rPr lang="en-US" smtClean="0"/>
              <a:t>8/29/2026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="" xmlns:a16="http://schemas.microsoft.com/office/drawing/2014/main" id="{69256698-63C6-4CCC-81CB-EA5604C30F1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="" xmlns:a16="http://schemas.microsoft.com/office/drawing/2014/main" id="{B2467FDA-05D7-4760-A373-5D6AEAAF42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2C0B10-7CAE-41E4-AB02-7E8B1FF2B89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753759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9EC30E-1A71-4188-9BE7-E2A64929A436}" type="datetimeFigureOut">
              <a:rPr lang="en-US" noProof="0" smtClean="0"/>
              <a:t>8/29/2026</a:t>
            </a:fld>
            <a:endParaRPr lang="en-US" noProof="0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30193B-564F-4854-8A52-728F3FB19C85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6038165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30193B-564F-4854-8A52-728F3FB19C85}" type="slidenum">
              <a:rPr lang="en-US" noProof="0" smtClean="0"/>
              <a:t>5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5079122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15" name="Freeform 14"/>
            <p:cNvSpPr/>
            <p:nvPr/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cxnSp>
          <p:nvCxnSpPr>
            <p:cNvPr id="19" name="Straight Connector 18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Isosceles Triangle 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0022032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0528460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7669602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12588-04B1-427B-82EE-E8DB90309F08}" type="datetimeFigureOut">
              <a:rPr lang="en-US" smtClean="0"/>
              <a:t>8/29/2026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9F0C5-380F-41C2-899A-BAC0F0927E1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7459935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8/29/2026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323909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8/29/2026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1965439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8/29/2026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6897335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54C80-263E-416B-A8E0-580EDEADCBDC}" type="datetimeFigureOut">
              <a:rPr lang="en-US" smtClean="0"/>
              <a:t>8/29/2026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954A3-9DFD-4C44-94BA-B95130A3BA1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9620618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8/29/2026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0304514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8109717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322563127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8478255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926250616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3561930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6B4A9-1611-4792-9094-5F34BCA07E0B}" type="datetimeFigureOut">
              <a:rPr lang="en-US" smtClean="0"/>
              <a:t>8/29/2026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333C77-0158-454C-844F-B7AB9BD7DAD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7920135"/>
      </p:ext>
    </p:extLst>
  </p:cSld>
  <p:clrMapOvr>
    <a:masterClrMapping/>
  </p:clrMapOvr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619384"/>
      </p:ext>
    </p:extLst>
  </p:cSld>
  <p:clrMapOvr>
    <a:masterClrMapping/>
  </p:clrMapOvr>
  <p:hf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>
            <a:extLst>
              <a:ext uri="{FF2B5EF4-FFF2-40B4-BE49-F238E27FC236}">
                <a16:creationId xmlns="" xmlns:a16="http://schemas.microsoft.com/office/drawing/2014/main" id="{6FDA3C6F-5F6A-4D64-8BFE-AFFF58B1A04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312871" y="4141999"/>
            <a:ext cx="4220845" cy="86149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>
                <a:solidFill>
                  <a:schemeClr val="accent4"/>
                </a:solidFill>
                <a:latin typeface="+mj-lt"/>
              </a:defRPr>
            </a:lvl1pPr>
            <a:lvl2pPr>
              <a:buNone/>
              <a:defRPr sz="2000"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" name="Hexagon 14">
            <a:extLst>
              <a:ext uri="{FF2B5EF4-FFF2-40B4-BE49-F238E27FC236}">
                <a16:creationId xmlns="" xmlns:a16="http://schemas.microsoft.com/office/drawing/2014/main" id="{AC159667-7690-4645-986D-BE501438455F}"/>
              </a:ext>
            </a:extLst>
          </p:cNvPr>
          <p:cNvSpPr/>
          <p:nvPr userDrawn="1"/>
        </p:nvSpPr>
        <p:spPr>
          <a:xfrm>
            <a:off x="740309" y="1382809"/>
            <a:ext cx="1229566" cy="1059971"/>
          </a:xfrm>
          <a:prstGeom prst="hexag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Hexagon 15">
            <a:extLst>
              <a:ext uri="{FF2B5EF4-FFF2-40B4-BE49-F238E27FC236}">
                <a16:creationId xmlns="" xmlns:a16="http://schemas.microsoft.com/office/drawing/2014/main" id="{54667EE4-E77F-453B-BF8B-B1EE2AE80715}"/>
              </a:ext>
            </a:extLst>
          </p:cNvPr>
          <p:cNvSpPr/>
          <p:nvPr userDrawn="1"/>
        </p:nvSpPr>
        <p:spPr>
          <a:xfrm>
            <a:off x="3755031" y="1194620"/>
            <a:ext cx="1666162" cy="1436347"/>
          </a:xfrm>
          <a:prstGeom prst="hexagon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Hexagon 16">
            <a:extLst>
              <a:ext uri="{FF2B5EF4-FFF2-40B4-BE49-F238E27FC236}">
                <a16:creationId xmlns="" xmlns:a16="http://schemas.microsoft.com/office/drawing/2014/main" id="{FC050232-A229-425F-BFC8-D50374F2D171}"/>
              </a:ext>
            </a:extLst>
          </p:cNvPr>
          <p:cNvSpPr/>
          <p:nvPr userDrawn="1"/>
        </p:nvSpPr>
        <p:spPr>
          <a:xfrm>
            <a:off x="3804994" y="5233183"/>
            <a:ext cx="718261" cy="619191"/>
          </a:xfrm>
          <a:prstGeom prst="hexagon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Hexagon 17">
            <a:extLst>
              <a:ext uri="{FF2B5EF4-FFF2-40B4-BE49-F238E27FC236}">
                <a16:creationId xmlns="" xmlns:a16="http://schemas.microsoft.com/office/drawing/2014/main" id="{53E4EBC7-340A-43A5-9E23-4B73A6F700B6}"/>
              </a:ext>
            </a:extLst>
          </p:cNvPr>
          <p:cNvSpPr/>
          <p:nvPr userDrawn="1"/>
        </p:nvSpPr>
        <p:spPr>
          <a:xfrm>
            <a:off x="1837838" y="1101306"/>
            <a:ext cx="651613" cy="561736"/>
          </a:xfrm>
          <a:prstGeom prst="hexagon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="" xmlns:a16="http://schemas.microsoft.com/office/drawing/2014/main" id="{1ED0E31A-F0A3-481D-8D9C-E3C4531FD21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571515" y="1914044"/>
            <a:ext cx="3993624" cy="3617848"/>
          </a:xfrm>
          <a:custGeom>
            <a:avLst/>
            <a:gdLst>
              <a:gd name="connsiteX0" fmla="*/ 1223161 w 3993624"/>
              <a:gd name="connsiteY0" fmla="*/ 2354088 h 3617848"/>
              <a:gd name="connsiteX1" fmla="*/ 2057242 w 3993624"/>
              <a:gd name="connsiteY1" fmla="*/ 2354088 h 3617848"/>
              <a:gd name="connsiteX2" fmla="*/ 2373182 w 3993624"/>
              <a:gd name="connsiteY2" fmla="*/ 2985968 h 3617848"/>
              <a:gd name="connsiteX3" fmla="*/ 2057242 w 3993624"/>
              <a:gd name="connsiteY3" fmla="*/ 3617848 h 3617848"/>
              <a:gd name="connsiteX4" fmla="*/ 1223161 w 3993624"/>
              <a:gd name="connsiteY4" fmla="*/ 3617848 h 3617848"/>
              <a:gd name="connsiteX5" fmla="*/ 907221 w 3993624"/>
              <a:gd name="connsiteY5" fmla="*/ 2985968 h 3617848"/>
              <a:gd name="connsiteX6" fmla="*/ 2569631 w 3993624"/>
              <a:gd name="connsiteY6" fmla="*/ 1425984 h 3617848"/>
              <a:gd name="connsiteX7" fmla="*/ 3602417 w 3993624"/>
              <a:gd name="connsiteY7" fmla="*/ 1425984 h 3617848"/>
              <a:gd name="connsiteX8" fmla="*/ 3993624 w 3993624"/>
              <a:gd name="connsiteY8" fmla="*/ 2208398 h 3617848"/>
              <a:gd name="connsiteX9" fmla="*/ 3602417 w 3993624"/>
              <a:gd name="connsiteY9" fmla="*/ 2990812 h 3617848"/>
              <a:gd name="connsiteX10" fmla="*/ 2569631 w 3993624"/>
              <a:gd name="connsiteY10" fmla="*/ 2990812 h 3617848"/>
              <a:gd name="connsiteX11" fmla="*/ 2178424 w 3993624"/>
              <a:gd name="connsiteY11" fmla="*/ 2208398 h 3617848"/>
              <a:gd name="connsiteX12" fmla="*/ 551406 w 3993624"/>
              <a:gd name="connsiteY12" fmla="*/ 0 h 3617848"/>
              <a:gd name="connsiteX13" fmla="*/ 2007117 w 3993624"/>
              <a:gd name="connsiteY13" fmla="*/ 0 h 3617848"/>
              <a:gd name="connsiteX14" fmla="*/ 2558523 w 3993624"/>
              <a:gd name="connsiteY14" fmla="*/ 1102811 h 3617848"/>
              <a:gd name="connsiteX15" fmla="*/ 2007117 w 3993624"/>
              <a:gd name="connsiteY15" fmla="*/ 2205622 h 3617848"/>
              <a:gd name="connsiteX16" fmla="*/ 551406 w 3993624"/>
              <a:gd name="connsiteY16" fmla="*/ 2205622 h 3617848"/>
              <a:gd name="connsiteX17" fmla="*/ 0 w 3993624"/>
              <a:gd name="connsiteY17" fmla="*/ 1102811 h 36178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3993624" h="3617848">
                <a:moveTo>
                  <a:pt x="1223161" y="2354088"/>
                </a:moveTo>
                <a:lnTo>
                  <a:pt x="2057242" y="2354088"/>
                </a:lnTo>
                <a:lnTo>
                  <a:pt x="2373182" y="2985968"/>
                </a:lnTo>
                <a:lnTo>
                  <a:pt x="2057242" y="3617848"/>
                </a:lnTo>
                <a:lnTo>
                  <a:pt x="1223161" y="3617848"/>
                </a:lnTo>
                <a:lnTo>
                  <a:pt x="907221" y="2985968"/>
                </a:lnTo>
                <a:close/>
                <a:moveTo>
                  <a:pt x="2569631" y="1425984"/>
                </a:moveTo>
                <a:lnTo>
                  <a:pt x="3602417" y="1425984"/>
                </a:lnTo>
                <a:lnTo>
                  <a:pt x="3993624" y="2208398"/>
                </a:lnTo>
                <a:lnTo>
                  <a:pt x="3602417" y="2990812"/>
                </a:lnTo>
                <a:lnTo>
                  <a:pt x="2569631" y="2990812"/>
                </a:lnTo>
                <a:lnTo>
                  <a:pt x="2178424" y="2208398"/>
                </a:lnTo>
                <a:close/>
                <a:moveTo>
                  <a:pt x="551406" y="0"/>
                </a:moveTo>
                <a:lnTo>
                  <a:pt x="2007117" y="0"/>
                </a:lnTo>
                <a:lnTo>
                  <a:pt x="2558523" y="1102811"/>
                </a:lnTo>
                <a:lnTo>
                  <a:pt x="2007117" y="2205622"/>
                </a:lnTo>
                <a:lnTo>
                  <a:pt x="551406" y="2205622"/>
                </a:lnTo>
                <a:lnTo>
                  <a:pt x="0" y="1102811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="" xmlns:a16="http://schemas.microsoft.com/office/drawing/2014/main" id="{03E68100-C56F-4515-A4FD-3F301797E7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12871" y="2050552"/>
            <a:ext cx="4998720" cy="1748983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4091946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72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val 9">
            <a:extLst>
              <a:ext uri="{FF2B5EF4-FFF2-40B4-BE49-F238E27FC236}">
                <a16:creationId xmlns="" xmlns:a16="http://schemas.microsoft.com/office/drawing/2014/main" id="{24FAA9D0-7C9C-4043-9931-A15819ABB9B5}"/>
              </a:ext>
            </a:extLst>
          </p:cNvPr>
          <p:cNvSpPr/>
          <p:nvPr userDrawn="1"/>
        </p:nvSpPr>
        <p:spPr>
          <a:xfrm>
            <a:off x="7362825" y="443263"/>
            <a:ext cx="361950" cy="361950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="" xmlns:a16="http://schemas.microsoft.com/office/drawing/2014/main" id="{E232AB2D-843E-4B5F-8793-6A263DA356BB}"/>
              </a:ext>
            </a:extLst>
          </p:cNvPr>
          <p:cNvSpPr/>
          <p:nvPr userDrawn="1"/>
        </p:nvSpPr>
        <p:spPr>
          <a:xfrm>
            <a:off x="11007246" y="5605994"/>
            <a:ext cx="654227" cy="65422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="" xmlns:a16="http://schemas.microsoft.com/office/drawing/2014/main" id="{FA75A12B-C399-4072-BD69-D872D2C2AD1F}"/>
              </a:ext>
            </a:extLst>
          </p:cNvPr>
          <p:cNvSpPr/>
          <p:nvPr userDrawn="1"/>
        </p:nvSpPr>
        <p:spPr>
          <a:xfrm>
            <a:off x="10683791" y="6132439"/>
            <a:ext cx="251152" cy="251152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23" name="Picture Placeholder 22">
            <a:extLst>
              <a:ext uri="{FF2B5EF4-FFF2-40B4-BE49-F238E27FC236}">
                <a16:creationId xmlns="" xmlns:a16="http://schemas.microsoft.com/office/drawing/2014/main" id="{423AE48B-50E9-4BEA-B66A-B2D2B9CCFE9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733416" y="624239"/>
            <a:ext cx="5855754" cy="5631571"/>
          </a:xfrm>
          <a:custGeom>
            <a:avLst/>
            <a:gdLst>
              <a:gd name="connsiteX0" fmla="*/ 3433020 w 5855754"/>
              <a:gd name="connsiteY0" fmla="*/ 786103 h 5631571"/>
              <a:gd name="connsiteX1" fmla="*/ 5855754 w 5855754"/>
              <a:gd name="connsiteY1" fmla="*/ 3208837 h 5631571"/>
              <a:gd name="connsiteX2" fmla="*/ 3433020 w 5855754"/>
              <a:gd name="connsiteY2" fmla="*/ 5631571 h 5631571"/>
              <a:gd name="connsiteX3" fmla="*/ 1010286 w 5855754"/>
              <a:gd name="connsiteY3" fmla="*/ 3208837 h 5631571"/>
              <a:gd name="connsiteX4" fmla="*/ 3433020 w 5855754"/>
              <a:gd name="connsiteY4" fmla="*/ 786103 h 5631571"/>
              <a:gd name="connsiteX5" fmla="*/ 828675 w 5855754"/>
              <a:gd name="connsiteY5" fmla="*/ 0 h 5631571"/>
              <a:gd name="connsiteX6" fmla="*/ 1657350 w 5855754"/>
              <a:gd name="connsiteY6" fmla="*/ 828675 h 5631571"/>
              <a:gd name="connsiteX7" fmla="*/ 828675 w 5855754"/>
              <a:gd name="connsiteY7" fmla="*/ 1657350 h 5631571"/>
              <a:gd name="connsiteX8" fmla="*/ 0 w 5855754"/>
              <a:gd name="connsiteY8" fmla="*/ 828675 h 5631571"/>
              <a:gd name="connsiteX9" fmla="*/ 828675 w 5855754"/>
              <a:gd name="connsiteY9" fmla="*/ 0 h 56315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855754" h="5631571">
                <a:moveTo>
                  <a:pt x="3433020" y="786103"/>
                </a:moveTo>
                <a:cubicBezTo>
                  <a:pt x="4771059" y="786103"/>
                  <a:pt x="5855754" y="1870798"/>
                  <a:pt x="5855754" y="3208837"/>
                </a:cubicBezTo>
                <a:cubicBezTo>
                  <a:pt x="5855754" y="4546876"/>
                  <a:pt x="4771059" y="5631571"/>
                  <a:pt x="3433020" y="5631571"/>
                </a:cubicBezTo>
                <a:cubicBezTo>
                  <a:pt x="2094981" y="5631571"/>
                  <a:pt x="1010286" y="4546876"/>
                  <a:pt x="1010286" y="3208837"/>
                </a:cubicBezTo>
                <a:cubicBezTo>
                  <a:pt x="1010286" y="1870798"/>
                  <a:pt x="2094981" y="786103"/>
                  <a:pt x="3433020" y="786103"/>
                </a:cubicBezTo>
                <a:close/>
                <a:moveTo>
                  <a:pt x="828675" y="0"/>
                </a:moveTo>
                <a:cubicBezTo>
                  <a:pt x="1286340" y="0"/>
                  <a:pt x="1657350" y="371010"/>
                  <a:pt x="1657350" y="828675"/>
                </a:cubicBezTo>
                <a:cubicBezTo>
                  <a:pt x="1657350" y="1286340"/>
                  <a:pt x="1286340" y="1657350"/>
                  <a:pt x="828675" y="1657350"/>
                </a:cubicBezTo>
                <a:cubicBezTo>
                  <a:pt x="371010" y="1657350"/>
                  <a:pt x="0" y="1286340"/>
                  <a:pt x="0" y="828675"/>
                </a:cubicBezTo>
                <a:cubicBezTo>
                  <a:pt x="0" y="371010"/>
                  <a:pt x="371010" y="0"/>
                  <a:pt x="828675" y="0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26">
            <a:extLst>
              <a:ext uri="{FF2B5EF4-FFF2-40B4-BE49-F238E27FC236}">
                <a16:creationId xmlns="" xmlns:a16="http://schemas.microsoft.com/office/drawing/2014/main" id="{282D3E62-6D1A-4E9D-BE54-2EED9BF429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0400" y="2044700"/>
            <a:ext cx="4275138" cy="3560763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1pPr>
            <a:lvl2pPr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2pPr>
            <a:lvl3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3pPr>
            <a:lvl4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4pPr>
            <a:lvl5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itle 1">
            <a:extLst>
              <a:ext uri="{FF2B5EF4-FFF2-40B4-BE49-F238E27FC236}">
                <a16:creationId xmlns="" xmlns:a16="http://schemas.microsoft.com/office/drawing/2014/main" id="{DEB8F0E5-B89F-48AD-87BD-534EA9463C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805213"/>
            <a:ext cx="4275138" cy="830997"/>
          </a:xfrm>
          <a:prstGeom prst="rect">
            <a:avLst/>
          </a:prstGeom>
        </p:spPr>
        <p:txBody>
          <a:bodyPr/>
          <a:lstStyle>
            <a:lvl1pPr>
              <a:defRPr sz="48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1395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26">
            <a:extLst>
              <a:ext uri="{FF2B5EF4-FFF2-40B4-BE49-F238E27FC236}">
                <a16:creationId xmlns="" xmlns:a16="http://schemas.microsoft.com/office/drawing/2014/main" id="{4AA38E8C-A334-4183-8ABC-112B8517F48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0400" y="2044700"/>
            <a:ext cx="4275138" cy="3560763"/>
          </a:xfrm>
          <a:prstGeom prst="rect">
            <a:avLst/>
          </a:prstGeom>
        </p:spPr>
        <p:txBody>
          <a:bodyPr/>
          <a:lstStyle>
            <a:lvl1pPr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1pPr>
            <a:lvl2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2pPr>
            <a:lvl3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3pPr>
            <a:lvl4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4pPr>
            <a:lvl5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="" xmlns:a16="http://schemas.microsoft.com/office/drawing/2014/main" id="{B80624A4-5116-4AAF-8C31-C25D1DB16FEC}"/>
              </a:ext>
            </a:extLst>
          </p:cNvPr>
          <p:cNvSpPr/>
          <p:nvPr userDrawn="1"/>
        </p:nvSpPr>
        <p:spPr>
          <a:xfrm>
            <a:off x="9354457" y="5363987"/>
            <a:ext cx="457200" cy="4572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="" xmlns:a16="http://schemas.microsoft.com/office/drawing/2014/main" id="{1D07EC8A-6024-4DEA-9C4D-AE4228E17854}"/>
              </a:ext>
            </a:extLst>
          </p:cNvPr>
          <p:cNvSpPr/>
          <p:nvPr userDrawn="1"/>
        </p:nvSpPr>
        <p:spPr>
          <a:xfrm>
            <a:off x="6692791" y="1699889"/>
            <a:ext cx="319749" cy="31974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="" xmlns:a16="http://schemas.microsoft.com/office/drawing/2014/main" id="{D1C8FAEF-DF78-48CC-AEEF-F9B802055C05}"/>
              </a:ext>
            </a:extLst>
          </p:cNvPr>
          <p:cNvSpPr/>
          <p:nvPr userDrawn="1"/>
        </p:nvSpPr>
        <p:spPr>
          <a:xfrm>
            <a:off x="9354457" y="5897738"/>
            <a:ext cx="179977" cy="17997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="" xmlns:a16="http://schemas.microsoft.com/office/drawing/2014/main" id="{566F72D6-AEEE-4CF3-8136-F6782F1E489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090227" y="786181"/>
            <a:ext cx="4441372" cy="5393036"/>
          </a:xfrm>
          <a:custGeom>
            <a:avLst/>
            <a:gdLst>
              <a:gd name="connsiteX0" fmla="*/ 0 w 4441372"/>
              <a:gd name="connsiteY0" fmla="*/ 3188969 h 5393036"/>
              <a:gd name="connsiteX1" fmla="*/ 2173516 w 4441372"/>
              <a:gd name="connsiteY1" fmla="*/ 3188969 h 5393036"/>
              <a:gd name="connsiteX2" fmla="*/ 2173516 w 4441372"/>
              <a:gd name="connsiteY2" fmla="*/ 5393036 h 5393036"/>
              <a:gd name="connsiteX3" fmla="*/ 0 w 4441372"/>
              <a:gd name="connsiteY3" fmla="*/ 5393036 h 5393036"/>
              <a:gd name="connsiteX4" fmla="*/ 2267856 w 4441372"/>
              <a:gd name="connsiteY4" fmla="*/ 2293018 h 5393036"/>
              <a:gd name="connsiteX5" fmla="*/ 4441372 w 4441372"/>
              <a:gd name="connsiteY5" fmla="*/ 2293018 h 5393036"/>
              <a:gd name="connsiteX6" fmla="*/ 4441372 w 4441372"/>
              <a:gd name="connsiteY6" fmla="*/ 4497085 h 5393036"/>
              <a:gd name="connsiteX7" fmla="*/ 2267856 w 4441372"/>
              <a:gd name="connsiteY7" fmla="*/ 4497085 h 5393036"/>
              <a:gd name="connsiteX8" fmla="*/ 0 w 4441372"/>
              <a:gd name="connsiteY8" fmla="*/ 906837 h 5393036"/>
              <a:gd name="connsiteX9" fmla="*/ 2173516 w 4441372"/>
              <a:gd name="connsiteY9" fmla="*/ 906837 h 5393036"/>
              <a:gd name="connsiteX10" fmla="*/ 2173516 w 4441372"/>
              <a:gd name="connsiteY10" fmla="*/ 3110904 h 5393036"/>
              <a:gd name="connsiteX11" fmla="*/ 0 w 4441372"/>
              <a:gd name="connsiteY11" fmla="*/ 3110904 h 5393036"/>
              <a:gd name="connsiteX12" fmla="*/ 2267856 w 4441372"/>
              <a:gd name="connsiteY12" fmla="*/ 0 h 5393036"/>
              <a:gd name="connsiteX13" fmla="*/ 4441372 w 4441372"/>
              <a:gd name="connsiteY13" fmla="*/ 0 h 5393036"/>
              <a:gd name="connsiteX14" fmla="*/ 4441372 w 4441372"/>
              <a:gd name="connsiteY14" fmla="*/ 2204067 h 5393036"/>
              <a:gd name="connsiteX15" fmla="*/ 2267856 w 4441372"/>
              <a:gd name="connsiteY15" fmla="*/ 2204067 h 53930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4441372" h="5393036">
                <a:moveTo>
                  <a:pt x="0" y="3188969"/>
                </a:moveTo>
                <a:lnTo>
                  <a:pt x="2173516" y="3188969"/>
                </a:lnTo>
                <a:lnTo>
                  <a:pt x="2173516" y="5393036"/>
                </a:lnTo>
                <a:lnTo>
                  <a:pt x="0" y="5393036"/>
                </a:lnTo>
                <a:close/>
                <a:moveTo>
                  <a:pt x="2267856" y="2293018"/>
                </a:moveTo>
                <a:lnTo>
                  <a:pt x="4441372" y="2293018"/>
                </a:lnTo>
                <a:lnTo>
                  <a:pt x="4441372" y="4497085"/>
                </a:lnTo>
                <a:lnTo>
                  <a:pt x="2267856" y="4497085"/>
                </a:lnTo>
                <a:close/>
                <a:moveTo>
                  <a:pt x="0" y="906837"/>
                </a:moveTo>
                <a:lnTo>
                  <a:pt x="2173516" y="906837"/>
                </a:lnTo>
                <a:lnTo>
                  <a:pt x="2173516" y="3110904"/>
                </a:lnTo>
                <a:lnTo>
                  <a:pt x="0" y="3110904"/>
                </a:lnTo>
                <a:close/>
                <a:moveTo>
                  <a:pt x="2267856" y="0"/>
                </a:moveTo>
                <a:lnTo>
                  <a:pt x="4441372" y="0"/>
                </a:lnTo>
                <a:lnTo>
                  <a:pt x="4441372" y="2204067"/>
                </a:lnTo>
                <a:lnTo>
                  <a:pt x="2267856" y="2204067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="" xmlns:a16="http://schemas.microsoft.com/office/drawing/2014/main" id="{459DADC7-BE21-4434-A6E4-BAF8090053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805213"/>
            <a:ext cx="4275138" cy="830997"/>
          </a:xfrm>
          <a:prstGeom prst="rect">
            <a:avLst/>
          </a:prstGeom>
        </p:spPr>
        <p:txBody>
          <a:bodyPr/>
          <a:lstStyle>
            <a:lvl1pPr>
              <a:defRPr sz="48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12548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04">
          <p15:clr>
            <a:srgbClr val="FBAE40"/>
          </p15:clr>
        </p15:guide>
        <p15:guide id="2" pos="3840">
          <p15:clr>
            <a:srgbClr val="FBAE40"/>
          </p15:clr>
        </p15:guide>
        <p15:guide id="3" orient="horz" pos="1416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icture Placeholder 38">
            <a:extLst>
              <a:ext uri="{FF2B5EF4-FFF2-40B4-BE49-F238E27FC236}">
                <a16:creationId xmlns="" xmlns:a16="http://schemas.microsoft.com/office/drawing/2014/main" id="{CF421413-161E-4B36-B693-FB38DF14EDAB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353508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8" name="Picture Placeholder 37">
            <a:extLst>
              <a:ext uri="{FF2B5EF4-FFF2-40B4-BE49-F238E27FC236}">
                <a16:creationId xmlns="" xmlns:a16="http://schemas.microsoft.com/office/drawing/2014/main" id="{B5D207AE-9C9C-410A-9F31-2402BAD6DDFF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3115921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0" name="Picture Placeholder 39">
            <a:extLst>
              <a:ext uri="{FF2B5EF4-FFF2-40B4-BE49-F238E27FC236}">
                <a16:creationId xmlns="" xmlns:a16="http://schemas.microsoft.com/office/drawing/2014/main" id="{DE3344FC-C4DE-481F-9C31-667EDD563C47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7602465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1" name="Picture Placeholder 40">
            <a:extLst>
              <a:ext uri="{FF2B5EF4-FFF2-40B4-BE49-F238E27FC236}">
                <a16:creationId xmlns="" xmlns:a16="http://schemas.microsoft.com/office/drawing/2014/main" id="{59094D7D-3613-49C1-BB58-A65B41A9738D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9840051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Title 1">
            <a:extLst>
              <a:ext uri="{FF2B5EF4-FFF2-40B4-BE49-F238E27FC236}">
                <a16:creationId xmlns="" xmlns:a16="http://schemas.microsoft.com/office/drawing/2014/main" id="{69FE87B7-32A4-4C7F-9AAF-37688E6404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647700"/>
            <a:ext cx="11340000" cy="700114"/>
          </a:xfrm>
          <a:prstGeom prst="rect">
            <a:avLst/>
          </a:prstGeom>
        </p:spPr>
        <p:txBody>
          <a:bodyPr anchor="ctr"/>
          <a:lstStyle/>
          <a:p>
            <a:pPr algn="ctr"/>
            <a:r>
              <a:rPr lang="en-US" sz="4800" b="1">
                <a:solidFill>
                  <a:schemeClr val="tx1"/>
                </a:solidFill>
              </a:rPr>
              <a:t>Click to edit Master title style</a:t>
            </a:r>
            <a:endParaRPr lang="en-US" sz="4800" b="1" dirty="0">
              <a:solidFill>
                <a:schemeClr val="tx1"/>
              </a:solidFill>
            </a:endParaRPr>
          </a:p>
        </p:txBody>
      </p:sp>
      <p:sp>
        <p:nvSpPr>
          <p:cNvPr id="9" name="Hexagon 8">
            <a:extLst>
              <a:ext uri="{FF2B5EF4-FFF2-40B4-BE49-F238E27FC236}">
                <a16:creationId xmlns="" xmlns:a16="http://schemas.microsoft.com/office/drawing/2014/main" id="{476CA45F-A66A-4AD8-A004-10DB55A5D7B2}"/>
              </a:ext>
            </a:extLst>
          </p:cNvPr>
          <p:cNvSpPr/>
          <p:nvPr userDrawn="1"/>
        </p:nvSpPr>
        <p:spPr>
          <a:xfrm>
            <a:off x="546669" y="3467555"/>
            <a:ext cx="458268" cy="395059"/>
          </a:xfrm>
          <a:prstGeom prst="hexag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Hexagon 9">
            <a:extLst>
              <a:ext uri="{FF2B5EF4-FFF2-40B4-BE49-F238E27FC236}">
                <a16:creationId xmlns="" xmlns:a16="http://schemas.microsoft.com/office/drawing/2014/main" id="{27A66A3D-2437-4015-9F5F-380C4D23D83C}"/>
              </a:ext>
            </a:extLst>
          </p:cNvPr>
          <p:cNvSpPr/>
          <p:nvPr userDrawn="1"/>
        </p:nvSpPr>
        <p:spPr>
          <a:xfrm>
            <a:off x="11113337" y="2394722"/>
            <a:ext cx="358391" cy="308958"/>
          </a:xfrm>
          <a:prstGeom prst="hexagon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Hexagon 10">
            <a:extLst>
              <a:ext uri="{FF2B5EF4-FFF2-40B4-BE49-F238E27FC236}">
                <a16:creationId xmlns="" xmlns:a16="http://schemas.microsoft.com/office/drawing/2014/main" id="{FFB14F3B-E7EF-4546-8D74-71FFB45C77C0}"/>
              </a:ext>
            </a:extLst>
          </p:cNvPr>
          <p:cNvSpPr/>
          <p:nvPr userDrawn="1"/>
        </p:nvSpPr>
        <p:spPr>
          <a:xfrm>
            <a:off x="10882649" y="2202202"/>
            <a:ext cx="230688" cy="198869"/>
          </a:xfrm>
          <a:prstGeom prst="hexagon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Text Placeholder 22">
            <a:extLst>
              <a:ext uri="{FF2B5EF4-FFF2-40B4-BE49-F238E27FC236}">
                <a16:creationId xmlns="" xmlns:a16="http://schemas.microsoft.com/office/drawing/2014/main" id="{591F943B-ED0D-49A1-844A-E23BA9A4871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46668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2">
            <a:extLst>
              <a:ext uri="{FF2B5EF4-FFF2-40B4-BE49-F238E27FC236}">
                <a16:creationId xmlns="" xmlns:a16="http://schemas.microsoft.com/office/drawing/2014/main" id="{9AC6B9A8-053C-4828-B705-901C6018F30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56692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2">
            <a:extLst>
              <a:ext uri="{FF2B5EF4-FFF2-40B4-BE49-F238E27FC236}">
                <a16:creationId xmlns="" xmlns:a16="http://schemas.microsoft.com/office/drawing/2014/main" id="{BBA6FD52-E179-41F8-AE78-9AF3D65F28B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789482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2">
            <a:extLst>
              <a:ext uri="{FF2B5EF4-FFF2-40B4-BE49-F238E27FC236}">
                <a16:creationId xmlns="" xmlns:a16="http://schemas.microsoft.com/office/drawing/2014/main" id="{C49A82AB-D328-4DB0-841B-186884119EB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789483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2">
            <a:extLst>
              <a:ext uri="{FF2B5EF4-FFF2-40B4-BE49-F238E27FC236}">
                <a16:creationId xmlns="" xmlns:a16="http://schemas.microsoft.com/office/drawing/2014/main" id="{84E23D5D-9866-48F9-8E08-DD2DBE4C4E3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32296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2">
            <a:extLst>
              <a:ext uri="{FF2B5EF4-FFF2-40B4-BE49-F238E27FC236}">
                <a16:creationId xmlns="" xmlns:a16="http://schemas.microsoft.com/office/drawing/2014/main" id="{E671C9E6-A1A5-4EE5-8642-94AA7635DB0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029201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2">
            <a:extLst>
              <a:ext uri="{FF2B5EF4-FFF2-40B4-BE49-F238E27FC236}">
                <a16:creationId xmlns="" xmlns:a16="http://schemas.microsoft.com/office/drawing/2014/main" id="{DF6BB5C9-B678-435A-830F-4C10EB1A957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275110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2">
            <a:extLst>
              <a:ext uri="{FF2B5EF4-FFF2-40B4-BE49-F238E27FC236}">
                <a16:creationId xmlns="" xmlns:a16="http://schemas.microsoft.com/office/drawing/2014/main" id="{1861EC87-A9E2-4FC3-B8BC-06C520B8A17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275111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2">
            <a:extLst>
              <a:ext uri="{FF2B5EF4-FFF2-40B4-BE49-F238E27FC236}">
                <a16:creationId xmlns="" xmlns:a16="http://schemas.microsoft.com/office/drawing/2014/main" id="{FC3EDE91-631F-4947-94DC-557685FD23E0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517923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2">
            <a:extLst>
              <a:ext uri="{FF2B5EF4-FFF2-40B4-BE49-F238E27FC236}">
                <a16:creationId xmlns="" xmlns:a16="http://schemas.microsoft.com/office/drawing/2014/main" id="{8FDDBEF4-1329-49DF-B043-D51B34F5EE3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517923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Picture Placeholder 36">
            <a:extLst>
              <a:ext uri="{FF2B5EF4-FFF2-40B4-BE49-F238E27FC236}">
                <a16:creationId xmlns="" xmlns:a16="http://schemas.microsoft.com/office/drawing/2014/main" id="{FBDB3FD3-4F52-4E28-B639-5F73070E47D9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878337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58848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ustom Layou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icture Placeholder 21">
            <a:extLst>
              <a:ext uri="{FF2B5EF4-FFF2-40B4-BE49-F238E27FC236}">
                <a16:creationId xmlns="" xmlns:a16="http://schemas.microsoft.com/office/drawing/2014/main" id="{DFA57703-9E4A-48E0-A123-3A5EDC76475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Rectangle 1" descr="Tall office building looking up">
            <a:extLst>
              <a:ext uri="{FF2B5EF4-FFF2-40B4-BE49-F238E27FC236}">
                <a16:creationId xmlns="" xmlns:a16="http://schemas.microsoft.com/office/drawing/2014/main" id="{AF7FA146-2A75-4EA7-A9AD-EBCE6F17FB42}"/>
              </a:ext>
            </a:extLst>
          </p:cNvPr>
          <p:cNvSpPr/>
          <p:nvPr userDrawn="1"/>
        </p:nvSpPr>
        <p:spPr>
          <a:xfrm>
            <a:off x="3718560" y="1181123"/>
            <a:ext cx="4754880" cy="4495754"/>
          </a:xfrm>
          <a:prstGeom prst="rect">
            <a:avLst/>
          </a:prstGeom>
          <a:solidFill>
            <a:schemeClr val="accent5">
              <a:alpha val="40000"/>
            </a:schemeClr>
          </a:solidFill>
          <a:ln w="6032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Text Placeholder 23">
            <a:extLst>
              <a:ext uri="{FF2B5EF4-FFF2-40B4-BE49-F238E27FC236}">
                <a16:creationId xmlns="" xmlns:a16="http://schemas.microsoft.com/office/drawing/2014/main" id="{340C15AA-E296-48AE-857F-0589EEA69DC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149139" y="4859469"/>
            <a:ext cx="3924934" cy="490538"/>
          </a:xfrm>
          <a:prstGeom prst="rect">
            <a:avLst/>
          </a:prstGeom>
        </p:spPr>
        <p:txBody>
          <a:bodyPr/>
          <a:lstStyle>
            <a:lvl1pPr algn="r">
              <a:buNone/>
              <a:defRPr lang="en-US" sz="2400" b="1" kern="1200" dirty="0" smtClean="0">
                <a:solidFill>
                  <a:schemeClr val="accent4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6" name="Title 1">
            <a:extLst>
              <a:ext uri="{FF2B5EF4-FFF2-40B4-BE49-F238E27FC236}">
                <a16:creationId xmlns="" xmlns:a16="http://schemas.microsoft.com/office/drawing/2014/main" id="{162BE5D7-9E35-49F8-A8E4-2093183A64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9139" y="1529685"/>
            <a:ext cx="3924934" cy="1695637"/>
          </a:xfrm>
          <a:prstGeom prst="rect">
            <a:avLst/>
          </a:prstGeom>
        </p:spPr>
        <p:txBody>
          <a:bodyPr/>
          <a:lstStyle>
            <a:lvl1pPr>
              <a:spcBef>
                <a:spcPts val="1000"/>
              </a:spcBef>
              <a:defRPr sz="48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39956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8/29/2026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8" name="Date Placeholder 3">
            <a:extLst>
              <a:ext uri="{FF2B5EF4-FFF2-40B4-BE49-F238E27FC236}">
                <a16:creationId xmlns="" xmlns:a16="http://schemas.microsoft.com/office/drawing/2014/main" id="{2CD6B789-4B66-4BD0-9623-80E9542A65FE}"/>
              </a:ext>
            </a:extLst>
          </p:cNvPr>
          <p:cNvSpPr txBox="1">
            <a:spLocks/>
          </p:cNvSpPr>
          <p:nvPr userDrawn="1"/>
        </p:nvSpPr>
        <p:spPr>
          <a:xfrm>
            <a:off x="660396" y="6378906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7BD5F78-1C10-49D6-8616-C9F20406C112}" type="datetime1">
              <a:rPr lang="en-US" sz="1100" smtClean="0">
                <a:solidFill>
                  <a:schemeClr val="accent2"/>
                </a:solidFill>
              </a:rPr>
              <a:pPr/>
              <a:t>8/29/2026</a:t>
            </a:fld>
            <a:endParaRPr lang="en-US" sz="1100" dirty="0">
              <a:solidFill>
                <a:schemeClr val="accent2"/>
              </a:solidFill>
            </a:endParaRPr>
          </a:p>
        </p:txBody>
      </p:sp>
      <p:sp>
        <p:nvSpPr>
          <p:cNvPr id="29" name="Footer Placeholder 4">
            <a:extLst>
              <a:ext uri="{FF2B5EF4-FFF2-40B4-BE49-F238E27FC236}">
                <a16:creationId xmlns="" xmlns:a16="http://schemas.microsoft.com/office/drawing/2014/main" id="{A3BB5234-44A4-4506-BD19-5808475EBB7F}"/>
              </a:ext>
            </a:extLst>
          </p:cNvPr>
          <p:cNvSpPr txBox="1">
            <a:spLocks/>
          </p:cNvSpPr>
          <p:nvPr userDrawn="1"/>
        </p:nvSpPr>
        <p:spPr>
          <a:xfrm>
            <a:off x="1445526" y="6378906"/>
            <a:ext cx="41148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100" b="1" dirty="0">
                <a:solidFill>
                  <a:schemeClr val="accent2"/>
                </a:solidFill>
              </a:rPr>
              <a:t>Annual Review</a:t>
            </a:r>
          </a:p>
        </p:txBody>
      </p:sp>
      <p:sp>
        <p:nvSpPr>
          <p:cNvPr id="30" name="Slide Number Placeholder 5">
            <a:extLst>
              <a:ext uri="{FF2B5EF4-FFF2-40B4-BE49-F238E27FC236}">
                <a16:creationId xmlns="" xmlns:a16="http://schemas.microsoft.com/office/drawing/2014/main" id="{68D89618-7EE9-46BF-BEAC-45E6F98ACA1A}"/>
              </a:ext>
            </a:extLst>
          </p:cNvPr>
          <p:cNvSpPr txBox="1">
            <a:spLocks/>
          </p:cNvSpPr>
          <p:nvPr userDrawn="1"/>
        </p:nvSpPr>
        <p:spPr>
          <a:xfrm>
            <a:off x="8805338" y="6378906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2C18C1E5-FB55-42F5-BD6D-9CC153FCDBE6}" type="slidenum">
              <a:rPr lang="en-US" sz="1100" smtClean="0">
                <a:solidFill>
                  <a:schemeClr val="accent4"/>
                </a:solidFill>
              </a:rPr>
              <a:pPr algn="r"/>
              <a:t>‹#›</a:t>
            </a:fld>
            <a:endParaRPr lang="en-US" sz="11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642590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8" r:id="rId1"/>
    <p:sldLayoutId id="2147483749" r:id="rId2"/>
    <p:sldLayoutId id="2147483750" r:id="rId3"/>
    <p:sldLayoutId id="2147483751" r:id="rId4"/>
    <p:sldLayoutId id="2147483752" r:id="rId5"/>
    <p:sldLayoutId id="2147483753" r:id="rId6"/>
    <p:sldLayoutId id="2147483754" r:id="rId7"/>
    <p:sldLayoutId id="2147483755" r:id="rId8"/>
    <p:sldLayoutId id="2147483756" r:id="rId9"/>
    <p:sldLayoutId id="2147483757" r:id="rId10"/>
    <p:sldLayoutId id="2147483758" r:id="rId11"/>
    <p:sldLayoutId id="2147483759" r:id="rId12"/>
    <p:sldLayoutId id="2147483760" r:id="rId13"/>
    <p:sldLayoutId id="2147483761" r:id="rId14"/>
    <p:sldLayoutId id="2147483762" r:id="rId15"/>
    <p:sldLayoutId id="2147483763" r:id="rId16"/>
    <p:sldLayoutId id="2147483764" r:id="rId17"/>
    <p:sldLayoutId id="2147483765" r:id="rId18"/>
    <p:sldLayoutId id="2147483766" r:id="rId19"/>
    <p:sldLayoutId id="2147483769" r:id="rId20"/>
    <p:sldLayoutId id="2147483690" r:id="rId21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fif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9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9.jp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11.jp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13.jp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yashmonde24/Car-Market-Trend-Analysis---VOIS-Internship-Project" TargetMode="External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="" xmlns:a16="http://schemas.microsoft.com/office/drawing/2014/main" id="{7201737A-B873-4D1D-8A41-5ABF5184BC8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848709" y="4402083"/>
            <a:ext cx="3717985" cy="596447"/>
          </a:xfrm>
        </p:spPr>
        <p:txBody>
          <a:bodyPr>
            <a:noAutofit/>
          </a:bodyPr>
          <a:lstStyle/>
          <a:p>
            <a:pPr algn="r"/>
            <a:r>
              <a:rPr lang="en-US" sz="1100" dirty="0" smtClean="0">
                <a:solidFill>
                  <a:schemeClr val="tx1"/>
                </a:solidFill>
                <a:latin typeface="Arial Black" panose="020B0A04020102020204" pitchFamily="34" charset="0"/>
              </a:rPr>
              <a:t>Name : </a:t>
            </a:r>
            <a:r>
              <a:rPr lang="en-US" sz="1100" dirty="0" err="1" smtClean="0">
                <a:solidFill>
                  <a:schemeClr val="tx1"/>
                </a:solidFill>
                <a:latin typeface="Arial Black" panose="020B0A04020102020204" pitchFamily="34" charset="0"/>
              </a:rPr>
              <a:t>Yash</a:t>
            </a:r>
            <a:r>
              <a:rPr lang="en-US" sz="1100" dirty="0" smtClean="0">
                <a:solidFill>
                  <a:schemeClr val="tx1"/>
                </a:solidFill>
                <a:latin typeface="Arial Black" panose="020B0A04020102020204" pitchFamily="34" charset="0"/>
              </a:rPr>
              <a:t> </a:t>
            </a:r>
            <a:r>
              <a:rPr lang="en-US" sz="1100" dirty="0" smtClean="0">
                <a:solidFill>
                  <a:schemeClr val="tx1"/>
                </a:solidFill>
                <a:latin typeface="Arial Black" panose="020B0A04020102020204" pitchFamily="34" charset="0"/>
              </a:rPr>
              <a:t>Sanjay Monde </a:t>
            </a:r>
          </a:p>
          <a:p>
            <a:pPr algn="r"/>
            <a:r>
              <a:rPr lang="en-IN" sz="1100" dirty="0" err="1" smtClean="0">
                <a:solidFill>
                  <a:schemeClr val="tx1"/>
                </a:solidFill>
                <a:latin typeface="Arial Black" panose="020B0A04020102020204" pitchFamily="34" charset="0"/>
              </a:rPr>
              <a:t>Aicte</a:t>
            </a:r>
            <a:r>
              <a:rPr lang="en-IN" sz="1100" dirty="0" smtClean="0">
                <a:solidFill>
                  <a:schemeClr val="tx1"/>
                </a:solidFill>
                <a:latin typeface="Arial Black" panose="020B0A04020102020204" pitchFamily="34" charset="0"/>
              </a:rPr>
              <a:t> ID : STU69f055805a3e71777358208</a:t>
            </a:r>
            <a:endParaRPr lang="en-IN" sz="1100" dirty="0">
              <a:solidFill>
                <a:schemeClr val="tx1"/>
              </a:solidFill>
              <a:latin typeface="Arial Black" panose="020B0A04020102020204" pitchFamily="34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="" xmlns:a16="http://schemas.microsoft.com/office/drawing/2014/main" id="{92056599-CDAA-4367-BEF8-31D6E32518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959" y="2788944"/>
            <a:ext cx="9583947" cy="1613139"/>
          </a:xfrm>
        </p:spPr>
        <p:txBody>
          <a:bodyPr>
            <a:normAutofit/>
          </a:bodyPr>
          <a:lstStyle/>
          <a:p>
            <a:r>
              <a:rPr lang="en-US" sz="3200" b="1" dirty="0" smtClean="0"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 </a:t>
            </a:r>
            <a:r>
              <a:rPr lang="en-US" sz="3200" b="1" dirty="0"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 </a:t>
            </a:r>
            <a:r>
              <a:rPr lang="en-US" sz="3200" b="1" dirty="0" smtClean="0"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TREND </a:t>
            </a:r>
            <a:r>
              <a:rPr lang="en-US" sz="3200" b="1" dirty="0"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ANALYSIS</a:t>
            </a:r>
            <a:r>
              <a:rPr lang="en-US" sz="3200" dirty="0"/>
              <a:t/>
            </a:r>
            <a:br>
              <a:rPr lang="en-US" sz="3200" dirty="0"/>
            </a:br>
            <a:endParaRPr lang="en-IN" sz="3200" dirty="0"/>
          </a:p>
        </p:txBody>
      </p:sp>
      <p:pic>
        <p:nvPicPr>
          <p:cNvPr id="6" name="Picture 5">
            <a:extLst>
              <a:ext uri="{FF2B5EF4-FFF2-40B4-BE49-F238E27FC236}">
                <a16:creationId xmlns="" xmlns:a16="http://schemas.microsoft.com/office/drawing/2014/main" id="{E30DEFF0-8DEE-4B0B-9B30-675FE9E288A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08959" y="3318802"/>
            <a:ext cx="6788989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accent1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 &amp; Depreciation Insights from the </a:t>
            </a:r>
            <a:r>
              <a:rPr lang="en-US" dirty="0" err="1">
                <a:solidFill>
                  <a:schemeClr val="accent1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CarDekho</a:t>
            </a:r>
            <a:r>
              <a:rPr lang="en-US" dirty="0">
                <a:solidFill>
                  <a:schemeClr val="accent1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Used-Car Dataset</a:t>
            </a:r>
            <a:endParaRPr lang="en-US" dirty="0">
              <a:solidFill>
                <a:schemeClr val="accent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04013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5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0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="" xmlns:a16="http://schemas.microsoft.com/office/drawing/2014/main" id="{E46E4DD1-270B-4C80-AFF0-EB26F132AF3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54602" y="2102230"/>
            <a:ext cx="7786969" cy="3607987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Used-car prices are shaped by several interacting factors </a:t>
            </a:r>
            <a:r>
              <a:rPr lang="en-US" sz="1600" b="1" dirty="0" smtClean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</a:t>
            </a: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age, mileage, fuel type, ownership history, seller type </a:t>
            </a:r>
            <a:r>
              <a:rPr lang="en-US" sz="1600" b="1" dirty="0" smtClean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</a:t>
            </a: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listings rarely price consistently against them.</a:t>
            </a:r>
            <a:endParaRPr lang="en-US" sz="1600" b="1" dirty="0">
              <a:solidFill>
                <a:schemeClr val="tx1"/>
              </a:solidFill>
            </a:endParaRPr>
          </a:p>
          <a:p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analysis uses </a:t>
            </a:r>
            <a:r>
              <a:rPr lang="en-US" sz="1600" b="1" dirty="0" err="1" smtClean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CarDekho</a:t>
            </a:r>
            <a:r>
              <a:rPr lang="en-US" sz="1600" b="1" dirty="0" smtClean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listings to answer one </a:t>
            </a:r>
            <a:r>
              <a:rPr lang="en-US" sz="1600" b="1" dirty="0" smtClean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:</a:t>
            </a:r>
          </a:p>
          <a:p>
            <a:pPr marL="0" indent="0" algn="just">
              <a:buNone/>
            </a:pPr>
            <a:r>
              <a:rPr lang="en-US" sz="1600" b="1" i="1" dirty="0" smtClean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 </a:t>
            </a:r>
            <a:r>
              <a:rPr lang="en-US" sz="1600" i="1" dirty="0" smtClean="0">
                <a:solidFill>
                  <a:srgbClr val="2E83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</a:t>
            </a:r>
            <a:r>
              <a:rPr lang="en-US" sz="1600" i="1" dirty="0">
                <a:solidFill>
                  <a:srgbClr val="2E83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actually move resale price </a:t>
            </a:r>
            <a:r>
              <a:rPr lang="en-US" sz="1600" i="1" dirty="0" smtClean="0">
                <a:solidFill>
                  <a:srgbClr val="2E83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i="1" dirty="0">
                <a:solidFill>
                  <a:srgbClr val="2E83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which ones, despite intuition, </a:t>
            </a:r>
            <a:r>
              <a:rPr lang="en-US" sz="1600" i="1" dirty="0" smtClean="0">
                <a:solidFill>
                  <a:srgbClr val="2E83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don’t</a:t>
            </a:r>
            <a:r>
              <a:rPr lang="en-US" sz="1600" i="1" dirty="0">
                <a:solidFill>
                  <a:srgbClr val="2E83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600" dirty="0"/>
          </a:p>
          <a:p>
            <a:pPr>
              <a:lnSpc>
                <a:spcPct val="150000"/>
              </a:lnSpc>
            </a:pPr>
            <a:endParaRPr lang="en-IN" sz="2800" dirty="0"/>
          </a:p>
        </p:txBody>
      </p:sp>
      <p:sp>
        <p:nvSpPr>
          <p:cNvPr id="4" name="Title 3">
            <a:extLst>
              <a:ext uri="{FF2B5EF4-FFF2-40B4-BE49-F238E27FC236}">
                <a16:creationId xmlns="" xmlns:a16="http://schemas.microsoft.com/office/drawing/2014/main" id="{777CC02B-F7C6-47A8-8C3E-C57C417D9E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4602" y="550417"/>
            <a:ext cx="6995604" cy="790111"/>
          </a:xfrm>
        </p:spPr>
        <p:txBody>
          <a:bodyPr>
            <a:normAutofit fontScale="90000"/>
          </a:bodyPr>
          <a:lstStyle/>
          <a:p>
            <a:r>
              <a:rPr lang="en-US" dirty="0"/>
              <a:t>PROBLEM  STATEMENT</a:t>
            </a: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="" xmlns:a16="http://schemas.microsoft.com/office/drawing/2014/main" id="{C8FE02DE-D7B2-433D-BFE4-2F564022AD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95684" y="2930834"/>
            <a:ext cx="2760758" cy="326440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="" xmlns:a16="http://schemas.microsoft.com/office/drawing/2014/main" id="{736DEFE3-051A-494A-949C-BB2FF86F9ED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85484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="" xmlns:a16="http://schemas.microsoft.com/office/drawing/2014/main" id="{EBF2FBC7-3552-4F01-BB27-8BEEE74F72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399" y="805213"/>
            <a:ext cx="6276109" cy="1101225"/>
          </a:xfrm>
        </p:spPr>
        <p:txBody>
          <a:bodyPr>
            <a:normAutofit fontScale="90000"/>
          </a:bodyPr>
          <a:lstStyle/>
          <a:p>
            <a:pPr>
              <a:lnSpc>
                <a:spcPct val="125000"/>
              </a:lnSpc>
            </a:pPr>
            <a:r>
              <a:rPr lang="en-US" dirty="0">
                <a:solidFill>
                  <a:srgbClr val="2C3C4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Dataset Overview</a:t>
            </a:r>
            <a:r>
              <a:rPr lang="en-US" dirty="0"/>
              <a:t/>
            </a:r>
            <a:br>
              <a:rPr lang="en-US" dirty="0"/>
            </a:br>
            <a:r>
              <a:rPr lang="en-US" dirty="0"/>
              <a:t/>
            </a:r>
            <a:br>
              <a:rPr lang="en-US" dirty="0"/>
            </a:br>
            <a:endParaRPr lang="en-IN" sz="2200" dirty="0"/>
          </a:p>
        </p:txBody>
      </p:sp>
      <p:pic>
        <p:nvPicPr>
          <p:cNvPr id="5" name="Picture 4">
            <a:extLst>
              <a:ext uri="{FF2B5EF4-FFF2-40B4-BE49-F238E27FC236}">
                <a16:creationId xmlns="" xmlns:a16="http://schemas.microsoft.com/office/drawing/2014/main" id="{09D8A2BA-6C1D-4A33-85F2-E44A4FF54A1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="" xmlns:a16="http://schemas.microsoft.com/office/drawing/2014/main" id="{6BED3D6A-DC10-4985-B01B-735F2CBA6E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59" y="6410461"/>
            <a:ext cx="3706253" cy="296092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50452" y="2061410"/>
            <a:ext cx="10696801" cy="21698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b="1" dirty="0" smtClean="0">
                <a:latin typeface="Calibri" pitchFamily="34" charset="0"/>
                <a:ea typeface="Calibri" pitchFamily="34" charset="-122"/>
                <a:cs typeface="Calibri" pitchFamily="34" charset="-120"/>
              </a:rPr>
              <a:t>-  Source</a:t>
            </a:r>
            <a:r>
              <a:rPr lang="en-US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b="1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CarDekho</a:t>
            </a:r>
            <a:r>
              <a:rPr lang="en-US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used-car </a:t>
            </a:r>
            <a:r>
              <a:rPr lang="en-US" b="1" dirty="0" smtClean="0">
                <a:latin typeface="Calibri" pitchFamily="34" charset="0"/>
                <a:ea typeface="Calibri" pitchFamily="34" charset="-122"/>
                <a:cs typeface="Calibri" pitchFamily="34" charset="-120"/>
              </a:rPr>
              <a:t>listings.</a:t>
            </a:r>
            <a:r>
              <a:rPr lang="en-US" b="1" dirty="0"/>
              <a:t/>
            </a:r>
            <a:br>
              <a:rPr lang="en-US" b="1" dirty="0"/>
            </a:br>
            <a:r>
              <a:rPr lang="en-US" b="1" dirty="0" smtClean="0"/>
              <a:t>- </a:t>
            </a:r>
            <a:r>
              <a:rPr lang="en-US" b="1" dirty="0" smtClean="0">
                <a:latin typeface="Calibri" pitchFamily="34" charset="0"/>
                <a:ea typeface="Calibri" pitchFamily="34" charset="-122"/>
                <a:cs typeface="Calibri" pitchFamily="34" charset="-120"/>
              </a:rPr>
              <a:t>Records</a:t>
            </a:r>
            <a:r>
              <a:rPr lang="en-US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: 301 (299 after removing 2 duplicates</a:t>
            </a:r>
            <a:r>
              <a:rPr lang="en-US" b="1" dirty="0" smtClean="0">
                <a:latin typeface="Calibri" pitchFamily="34" charset="0"/>
                <a:ea typeface="Calibri" pitchFamily="34" charset="-122"/>
                <a:cs typeface="Calibri" pitchFamily="34" charset="-120"/>
              </a:rPr>
              <a:t>).</a:t>
            </a:r>
            <a:r>
              <a:rPr lang="en-US" b="1" dirty="0"/>
              <a:t/>
            </a:r>
            <a:br>
              <a:rPr lang="en-US" b="1" dirty="0"/>
            </a:br>
            <a:r>
              <a:rPr lang="en-US" b="1" dirty="0" smtClean="0"/>
              <a:t>- </a:t>
            </a:r>
            <a:r>
              <a:rPr lang="en-US" b="1" dirty="0" smtClean="0">
                <a:latin typeface="Calibri" pitchFamily="34" charset="0"/>
                <a:ea typeface="Calibri" pitchFamily="34" charset="-122"/>
                <a:cs typeface="Calibri" pitchFamily="34" charset="-120"/>
              </a:rPr>
              <a:t>Columns</a:t>
            </a:r>
            <a:r>
              <a:rPr lang="en-US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b="1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Car_Name</a:t>
            </a:r>
            <a:r>
              <a:rPr lang="en-US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, Year, </a:t>
            </a:r>
            <a:r>
              <a:rPr lang="en-US" b="1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Selling_Price</a:t>
            </a:r>
            <a:r>
              <a:rPr lang="en-US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b="1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Present_Price</a:t>
            </a:r>
            <a:r>
              <a:rPr lang="en-US" b="1" dirty="0" smtClean="0"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b="1" dirty="0" err="1" smtClean="0">
                <a:latin typeface="Calibri" pitchFamily="34" charset="0"/>
                <a:ea typeface="Calibri" pitchFamily="34" charset="-122"/>
                <a:cs typeface="Calibri" pitchFamily="34" charset="-120"/>
              </a:rPr>
              <a:t>Kms_Driven</a:t>
            </a:r>
            <a:r>
              <a:rPr lang="en-US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b="1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Fuel_Type</a:t>
            </a:r>
            <a:r>
              <a:rPr lang="en-US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b="1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Seller_Type</a:t>
            </a:r>
            <a:r>
              <a:rPr lang="en-US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endParaRPr lang="en-US" b="1" dirty="0" smtClean="0"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>
              <a:lnSpc>
                <a:spcPct val="150000"/>
              </a:lnSpc>
            </a:pPr>
            <a:r>
              <a:rPr lang="en-US" b="1" dirty="0" smtClean="0">
                <a:latin typeface="Calibri" pitchFamily="34" charset="0"/>
                <a:ea typeface="Calibri" pitchFamily="34" charset="-122"/>
                <a:cs typeface="Calibri" pitchFamily="34" charset="-120"/>
              </a:rPr>
              <a:t>                  </a:t>
            </a:r>
            <a:r>
              <a:rPr lang="en-US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b="1" dirty="0" smtClean="0">
                <a:latin typeface="Calibri" pitchFamily="34" charset="0"/>
                <a:ea typeface="Calibri" pitchFamily="34" charset="-122"/>
                <a:cs typeface="Calibri" pitchFamily="34" charset="-120"/>
              </a:rPr>
              <a:t>  Transmission</a:t>
            </a:r>
            <a:r>
              <a:rPr lang="en-US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,  </a:t>
            </a:r>
            <a:r>
              <a:rPr lang="en-US" b="1" dirty="0" smtClean="0">
                <a:latin typeface="Calibri" pitchFamily="34" charset="0"/>
                <a:ea typeface="Calibri" pitchFamily="34" charset="-122"/>
                <a:cs typeface="Calibri" pitchFamily="34" charset="-120"/>
              </a:rPr>
              <a:t>Owner.</a:t>
            </a:r>
            <a:r>
              <a:rPr lang="en-US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r>
              <a:rPr lang="en-US" b="1" dirty="0" smtClean="0">
                <a:latin typeface="Calibri" pitchFamily="34" charset="0"/>
                <a:ea typeface="Calibri" pitchFamily="34" charset="-122"/>
                <a:cs typeface="Calibri" pitchFamily="34" charset="-120"/>
              </a:rPr>
              <a:t>-  Missing </a:t>
            </a:r>
            <a:r>
              <a:rPr lang="en-US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values: 0 across all </a:t>
            </a:r>
            <a:r>
              <a:rPr lang="en-US" b="1" dirty="0" smtClean="0">
                <a:latin typeface="Calibri" pitchFamily="34" charset="0"/>
                <a:ea typeface="Calibri" pitchFamily="34" charset="-122"/>
                <a:cs typeface="Calibri" pitchFamily="34" charset="-120"/>
              </a:rPr>
              <a:t>columns.</a:t>
            </a:r>
            <a:endParaRPr lang="en-IN" b="1" dirty="0"/>
          </a:p>
        </p:txBody>
      </p:sp>
    </p:spTree>
    <p:extLst>
      <p:ext uri="{BB962C8B-B14F-4D97-AF65-F5344CB8AC3E}">
        <p14:creationId xmlns:p14="http://schemas.microsoft.com/office/powerpoint/2010/main" val="36967703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="" xmlns:a16="http://schemas.microsoft.com/office/drawing/2014/main" id="{1A4A072B-83C6-4607-AE6A-5AD61CC72C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7261" y="921199"/>
            <a:ext cx="10046070" cy="802641"/>
          </a:xfrm>
        </p:spPr>
        <p:txBody>
          <a:bodyPr>
            <a:normAutofit/>
          </a:bodyPr>
          <a:lstStyle/>
          <a:p>
            <a:r>
              <a:rPr lang="en-US" sz="3200" dirty="0"/>
              <a:t>WHO ARE THE END USERS?</a:t>
            </a:r>
            <a:endParaRPr lang="en-IN" sz="2000" dirty="0"/>
          </a:p>
        </p:txBody>
      </p:sp>
      <p:pic>
        <p:nvPicPr>
          <p:cNvPr id="6" name="Picture 5">
            <a:extLst>
              <a:ext uri="{FF2B5EF4-FFF2-40B4-BE49-F238E27FC236}">
                <a16:creationId xmlns="" xmlns:a16="http://schemas.microsoft.com/office/drawing/2014/main" id="{E8B153BB-61B9-403F-8AE5-F75400450A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359" y="6176804"/>
            <a:ext cx="2181225" cy="485775"/>
          </a:xfrm>
          <a:prstGeom prst="rect">
            <a:avLst/>
          </a:prstGeom>
        </p:spPr>
      </p:pic>
      <p:sp>
        <p:nvSpPr>
          <p:cNvPr id="3" name="Rectangle 1"/>
          <p:cNvSpPr>
            <a:spLocks noGrp="1" noChangeArrowheads="1"/>
          </p:cNvSpPr>
          <p:nvPr>
            <p:ph type="body" sz="quarter" idx="12"/>
          </p:nvPr>
        </p:nvSpPr>
        <p:spPr bwMode="auto">
          <a:xfrm>
            <a:off x="721359" y="1876284"/>
            <a:ext cx="6732498" cy="424731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Used-car buyers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- Benchmark whether an asking price is fair given age, mileage, and ownership history. </a:t>
            </a:r>
          </a:p>
          <a:p>
            <a:pPr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Individual sellers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-</a:t>
            </a:r>
            <a:r>
              <a:rPr kumimoji="0" lang="en-US" altLang="en-US" sz="18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en-US" altLang="en-US" sz="1800" dirty="0">
                <a:solidFill>
                  <a:schemeClr val="tx1"/>
                </a:solidFill>
                <a:latin typeface="Arial" panose="020B0604020202020204" pitchFamily="34" charset="0"/>
              </a:rPr>
              <a:t>S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et realistic prices instead of anchoring on original purchase price. </a:t>
            </a:r>
          </a:p>
          <a:p>
            <a:pPr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Dealerships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- Use fuel type, ownership tier and mileage bucket as pricing levers when acquiring/reselling stock. </a:t>
            </a:r>
          </a:p>
          <a:p>
            <a:pPr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Online marketplaces (e.g. </a:t>
            </a:r>
            <a:r>
              <a:rPr kumimoji="0" lang="en-US" altLang="en-US" sz="1800" b="1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CarDekho</a:t>
            </a: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en-US" altLang="en-US" sz="1800" dirty="0">
                <a:solidFill>
                  <a:schemeClr val="tx1"/>
                </a:solidFill>
                <a:latin typeface="Arial" panose="020B0604020202020204" pitchFamily="34" charset="0"/>
              </a:rPr>
              <a:t>-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Feed these variables into an automated valuation/pricing model </a:t>
            </a:r>
          </a:p>
          <a:p>
            <a:pPr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Analysts/data teams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– A reference EDA for a resale-value prediction model (features and correlations already scoped). </a:t>
            </a:r>
          </a:p>
        </p:txBody>
      </p:sp>
    </p:spTree>
    <p:extLst>
      <p:ext uri="{BB962C8B-B14F-4D97-AF65-F5344CB8AC3E}">
        <p14:creationId xmlns:p14="http://schemas.microsoft.com/office/powerpoint/2010/main" val="480750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="" xmlns:a16="http://schemas.microsoft.com/office/drawing/2014/main" id="{0B7C27C4-3E14-490A-B132-CBBEDA1E90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59" y="6410461"/>
            <a:ext cx="3706253" cy="296092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="" xmlns:a16="http://schemas.microsoft.com/office/drawing/2014/main" id="{F1FC3E39-8C60-4F64-9838-2A683F25B8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50800" y="3820160"/>
            <a:ext cx="1727200" cy="3010024"/>
          </a:xfrm>
          <a:prstGeom prst="rect">
            <a:avLst/>
          </a:prstGeom>
        </p:spPr>
      </p:pic>
      <p:sp>
        <p:nvSpPr>
          <p:cNvPr id="7" name="Text Placeholder 6">
            <a:extLst>
              <a:ext uri="{FF2B5EF4-FFF2-40B4-BE49-F238E27FC236}">
                <a16:creationId xmlns="" xmlns:a16="http://schemas.microsoft.com/office/drawing/2014/main" id="{B21C28F5-3CA3-4B78-B5C9-550C00BB317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90618" y="1432560"/>
            <a:ext cx="9027702" cy="5243448"/>
          </a:xfrm>
        </p:spPr>
        <p:txBody>
          <a:bodyPr/>
          <a:lstStyle/>
          <a:p>
            <a:pPr lvl="1">
              <a:lnSpc>
                <a:spcPct val="150000"/>
              </a:lnSpc>
            </a:pPr>
            <a:r>
              <a:rPr lang="en-US" dirty="0" smtClean="0"/>
              <a:t>Python Library : 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en-US" dirty="0" smtClean="0"/>
              <a:t>-   Pandas for data loading and </a:t>
            </a:r>
            <a:r>
              <a:rPr lang="en-US" dirty="0" smtClean="0"/>
              <a:t>manipulation.</a:t>
            </a:r>
            <a:endParaRPr lang="en-US" dirty="0" smtClean="0"/>
          </a:p>
          <a:p>
            <a:pPr lvl="1">
              <a:lnSpc>
                <a:spcPct val="150000"/>
              </a:lnSpc>
              <a:buFontTx/>
              <a:buChar char="-"/>
            </a:pPr>
            <a:r>
              <a:rPr lang="en-US" dirty="0" err="1" smtClean="0"/>
              <a:t>Matplotlib</a:t>
            </a:r>
            <a:r>
              <a:rPr lang="en-US" dirty="0" smtClean="0"/>
              <a:t> and </a:t>
            </a:r>
            <a:r>
              <a:rPr lang="en-US" dirty="0" err="1" smtClean="0"/>
              <a:t>Seaborn</a:t>
            </a:r>
            <a:r>
              <a:rPr lang="en-US" dirty="0" smtClean="0"/>
              <a:t> for data </a:t>
            </a:r>
            <a:r>
              <a:rPr lang="en-US" dirty="0" smtClean="0"/>
              <a:t>visualization.</a:t>
            </a:r>
            <a:endParaRPr lang="en-US" dirty="0" smtClean="0"/>
          </a:p>
          <a:p>
            <a:pPr lvl="1">
              <a:lnSpc>
                <a:spcPct val="150000"/>
              </a:lnSpc>
            </a:pPr>
            <a:r>
              <a:rPr lang="en-US" dirty="0" smtClean="0"/>
              <a:t>Microsoft Power Point for analysis </a:t>
            </a:r>
            <a:r>
              <a:rPr lang="en-US" dirty="0" smtClean="0"/>
              <a:t>reports and presentation.</a:t>
            </a:r>
            <a:endParaRPr lang="en-US" dirty="0"/>
          </a:p>
        </p:txBody>
      </p:sp>
      <p:sp>
        <p:nvSpPr>
          <p:cNvPr id="9" name="Title 8">
            <a:extLst>
              <a:ext uri="{FF2B5EF4-FFF2-40B4-BE49-F238E27FC236}">
                <a16:creationId xmlns="" xmlns:a16="http://schemas.microsoft.com/office/drawing/2014/main" id="{FEF304F5-32C5-4869-B185-859B567855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399" y="430567"/>
            <a:ext cx="5306291" cy="847817"/>
          </a:xfrm>
        </p:spPr>
        <p:txBody>
          <a:bodyPr>
            <a:normAutofit/>
          </a:bodyPr>
          <a:lstStyle/>
          <a:p>
            <a:r>
              <a:rPr lang="en-US" dirty="0" smtClean="0"/>
              <a:t>Technology Used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19010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  <p:bldP spid="9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="" xmlns:a16="http://schemas.microsoft.com/office/drawing/2014/main" id="{BBB0C869-7C5C-4070-BD4D-F3FC2DA8F30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="" xmlns:a16="http://schemas.microsoft.com/office/drawing/2014/main" id="{AFE3A2AF-177E-45E6-A191-0F8523DB7F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6" y="370589"/>
            <a:ext cx="7976337" cy="830997"/>
          </a:xfrm>
        </p:spPr>
        <p:txBody>
          <a:bodyPr>
            <a:normAutofit/>
          </a:bodyPr>
          <a:lstStyle/>
          <a:p>
            <a:r>
              <a:rPr lang="en-US" sz="3200" dirty="0"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Selling Price Distribution</a:t>
            </a:r>
            <a:endParaRPr lang="en-US" sz="3200" dirty="0"/>
          </a:p>
        </p:txBody>
      </p:sp>
      <p:sp>
        <p:nvSpPr>
          <p:cNvPr id="7" name="Text Placeholder 30">
            <a:extLst>
              <a:ext uri="{FF2B5EF4-FFF2-40B4-BE49-F238E27FC236}">
                <a16:creationId xmlns="" xmlns:a16="http://schemas.microsoft.com/office/drawing/2014/main" id="{372426BE-BEE7-4A6D-BCD2-059615BBCE25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="" xmlns:a16="http://schemas.microsoft.com/office/drawing/2014/main" id="{E61E227A-5883-4C77-B25A-46A22FFDF41F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9" name="Title 3">
            <a:extLst>
              <a:ext uri="{FF2B5EF4-FFF2-40B4-BE49-F238E27FC236}">
                <a16:creationId xmlns="" xmlns:a16="http://schemas.microsoft.com/office/drawing/2014/main" id="{E25373E9-1A26-4A40-9897-E42DE485D8E3}"/>
              </a:ext>
            </a:extLst>
          </p:cNvPr>
          <p:cNvSpPr txBox="1">
            <a:spLocks/>
          </p:cNvSpPr>
          <p:nvPr/>
        </p:nvSpPr>
        <p:spPr>
          <a:xfrm>
            <a:off x="422959" y="5737443"/>
            <a:ext cx="2981643" cy="83099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8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GB" dirty="0"/>
              <a:t> </a:t>
            </a:r>
            <a:endParaRPr lang="en-IN" b="0" u="sng" dirty="0">
              <a:solidFill>
                <a:srgbClr val="0070C0"/>
              </a:solidFill>
            </a:endParaRPr>
          </a:p>
        </p:txBody>
      </p:sp>
      <p:sp>
        <p:nvSpPr>
          <p:cNvPr id="10" name="Text Placeholder 1">
            <a:extLst>
              <a:ext uri="{FF2B5EF4-FFF2-40B4-BE49-F238E27FC236}">
                <a16:creationId xmlns="" xmlns:a16="http://schemas.microsoft.com/office/drawing/2014/main" id="{B19D8AC7-3787-4ADB-9212-0808F015C2D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07164" y="1431693"/>
            <a:ext cx="4275138" cy="477520"/>
          </a:xfrm>
        </p:spPr>
        <p:txBody>
          <a:bodyPr/>
          <a:lstStyle/>
          <a:p>
            <a:pPr marL="0" indent="0">
              <a:buNone/>
            </a:pPr>
            <a:endParaRPr lang="en-IN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1389" y="1154392"/>
            <a:ext cx="8248609" cy="342623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0981" y="4767601"/>
            <a:ext cx="8012135" cy="21698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Right-skewed distribution </a:t>
            </a:r>
            <a:r>
              <a:rPr lang="en-US" sz="1600" dirty="0" smtClean="0">
                <a:latin typeface="Calibri" pitchFamily="34" charset="0"/>
                <a:ea typeface="Calibri" pitchFamily="34" charset="-122"/>
                <a:cs typeface="Calibri" pitchFamily="34" charset="-120"/>
              </a:rPr>
              <a:t>- </a:t>
            </a:r>
            <a:r>
              <a:rPr lang="en-US" sz="16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most cars cluster in the ₹</a:t>
            </a:r>
            <a:r>
              <a:rPr lang="en-US" sz="1600" dirty="0" smtClean="0">
                <a:latin typeface="Calibri" pitchFamily="34" charset="0"/>
                <a:ea typeface="Calibri" pitchFamily="34" charset="-122"/>
                <a:cs typeface="Calibri" pitchFamily="34" charset="-120"/>
              </a:rPr>
              <a:t>0-2L </a:t>
            </a:r>
            <a:r>
              <a:rPr lang="en-US" sz="16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range, with a long tail out to ₹35L.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Median (₹3.60L) sits well below the mean (₹4.66L) </a:t>
            </a:r>
            <a:r>
              <a:rPr lang="en-US" sz="1600" dirty="0" smtClean="0">
                <a:latin typeface="Calibri" pitchFamily="34" charset="0"/>
                <a:ea typeface="Calibri" pitchFamily="34" charset="-122"/>
                <a:cs typeface="Calibri" pitchFamily="34" charset="-120"/>
              </a:rPr>
              <a:t>- </a:t>
            </a:r>
            <a:r>
              <a:rPr lang="en-US" sz="16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a small number of high-value listings pull the average up.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Implication: benchmark typical pricing against the median, not the mean.</a:t>
            </a:r>
            <a:endParaRPr lang="en-US" sz="1600" dirty="0"/>
          </a:p>
          <a:p>
            <a:endParaRPr lang="en-IN" sz="1600" dirty="0"/>
          </a:p>
        </p:txBody>
      </p:sp>
      <p:sp>
        <p:nvSpPr>
          <p:cNvPr id="6" name="TextBox 5"/>
          <p:cNvSpPr txBox="1"/>
          <p:nvPr/>
        </p:nvSpPr>
        <p:spPr>
          <a:xfrm>
            <a:off x="807164" y="112138"/>
            <a:ext cx="1582353" cy="30777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400" dirty="0" smtClean="0"/>
              <a:t>Finding No -1</a:t>
            </a:r>
            <a:endParaRPr lang="en-IN" sz="1400" dirty="0"/>
          </a:p>
        </p:txBody>
      </p:sp>
    </p:spTree>
    <p:extLst>
      <p:ext uri="{BB962C8B-B14F-4D97-AF65-F5344CB8AC3E}">
        <p14:creationId xmlns:p14="http://schemas.microsoft.com/office/powerpoint/2010/main" val="10862254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6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="" xmlns:a16="http://schemas.microsoft.com/office/drawing/2014/main" id="{BBB0C869-7C5C-4070-BD4D-F3FC2DA8F30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="" xmlns:a16="http://schemas.microsoft.com/office/drawing/2014/main" id="{AFE3A2AF-177E-45E6-A191-0F8523DB7F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27805"/>
            <a:ext cx="8045349" cy="873782"/>
          </a:xfrm>
        </p:spPr>
        <p:txBody>
          <a:bodyPr>
            <a:normAutofit/>
          </a:bodyPr>
          <a:lstStyle/>
          <a:p>
            <a:r>
              <a:rPr lang="en-US" sz="3200" dirty="0"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Depreciation Trend by Car Age</a:t>
            </a:r>
            <a:endParaRPr lang="en-US" sz="3200" dirty="0"/>
          </a:p>
        </p:txBody>
      </p:sp>
      <p:sp>
        <p:nvSpPr>
          <p:cNvPr id="7" name="Text Placeholder 30">
            <a:extLst>
              <a:ext uri="{FF2B5EF4-FFF2-40B4-BE49-F238E27FC236}">
                <a16:creationId xmlns="" xmlns:a16="http://schemas.microsoft.com/office/drawing/2014/main" id="{372426BE-BEE7-4A6D-BCD2-059615BBCE25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="" xmlns:a16="http://schemas.microsoft.com/office/drawing/2014/main" id="{E61E227A-5883-4C77-B25A-46A22FFDF41F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9" name="Title 3">
            <a:extLst>
              <a:ext uri="{FF2B5EF4-FFF2-40B4-BE49-F238E27FC236}">
                <a16:creationId xmlns="" xmlns:a16="http://schemas.microsoft.com/office/drawing/2014/main" id="{E25373E9-1A26-4A40-9897-E42DE485D8E3}"/>
              </a:ext>
            </a:extLst>
          </p:cNvPr>
          <p:cNvSpPr txBox="1">
            <a:spLocks/>
          </p:cNvSpPr>
          <p:nvPr/>
        </p:nvSpPr>
        <p:spPr>
          <a:xfrm>
            <a:off x="422959" y="5737443"/>
            <a:ext cx="2981643" cy="83099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8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GB" dirty="0"/>
              <a:t> </a:t>
            </a:r>
            <a:endParaRPr lang="en-IN" b="0" u="sng" dirty="0">
              <a:solidFill>
                <a:srgbClr val="0070C0"/>
              </a:solidFill>
            </a:endParaRPr>
          </a:p>
        </p:txBody>
      </p:sp>
      <p:sp>
        <p:nvSpPr>
          <p:cNvPr id="10" name="Text Placeholder 1">
            <a:extLst>
              <a:ext uri="{FF2B5EF4-FFF2-40B4-BE49-F238E27FC236}">
                <a16:creationId xmlns="" xmlns:a16="http://schemas.microsoft.com/office/drawing/2014/main" id="{B19D8AC7-3787-4ADB-9212-0808F015C2D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07164" y="1431693"/>
            <a:ext cx="4275138" cy="477520"/>
          </a:xfrm>
        </p:spPr>
        <p:txBody>
          <a:bodyPr/>
          <a:lstStyle/>
          <a:p>
            <a:pPr marL="0" indent="0">
              <a:buNone/>
            </a:pPr>
            <a:endParaRPr lang="en-IN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981" y="1201587"/>
            <a:ext cx="7511803" cy="33531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75957" y="4628531"/>
            <a:ext cx="7156828" cy="22365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Price falls from ~₹9.3L at 8 years old to under ₹1L by 18–19 years </a:t>
            </a:r>
            <a:r>
              <a:rPr lang="en-US" sz="1600" dirty="0" smtClean="0">
                <a:latin typeface="Calibri" pitchFamily="34" charset="0"/>
                <a:ea typeface="Calibri" pitchFamily="34" charset="-122"/>
                <a:cs typeface="Calibri" pitchFamily="34" charset="-120"/>
              </a:rPr>
              <a:t>- </a:t>
            </a:r>
            <a:r>
              <a:rPr lang="en-US" sz="16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the expected depreciation curve.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The trend gets noisy past 15 years </a:t>
            </a:r>
            <a:r>
              <a:rPr lang="en-US" sz="1600" dirty="0" smtClean="0">
                <a:latin typeface="Calibri" pitchFamily="34" charset="0"/>
                <a:ea typeface="Calibri" pitchFamily="34" charset="-122"/>
                <a:cs typeface="Calibri" pitchFamily="34" charset="-120"/>
              </a:rPr>
              <a:t>- </a:t>
            </a:r>
            <a:r>
              <a:rPr lang="en-US" sz="16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each age bucket has very few listings, so late-life upticks (e.g. age 21) likely reflect a handful of well-kept or rare cars, not a market reversal.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Recommendation: treat age-based pricing beyond ~15 years as low-confidence given sample size.</a:t>
            </a:r>
            <a:endParaRPr lang="en-US" sz="1600" dirty="0"/>
          </a:p>
        </p:txBody>
      </p:sp>
      <p:sp>
        <p:nvSpPr>
          <p:cNvPr id="11" name="TextBox 10"/>
          <p:cNvSpPr txBox="1"/>
          <p:nvPr/>
        </p:nvSpPr>
        <p:spPr>
          <a:xfrm>
            <a:off x="807164" y="112138"/>
            <a:ext cx="1582353" cy="30777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400" dirty="0" smtClean="0"/>
              <a:t>Finding No -2</a:t>
            </a:r>
            <a:endParaRPr lang="en-IN" sz="1400" dirty="0"/>
          </a:p>
        </p:txBody>
      </p:sp>
    </p:spTree>
    <p:extLst>
      <p:ext uri="{BB962C8B-B14F-4D97-AF65-F5344CB8AC3E}">
        <p14:creationId xmlns:p14="http://schemas.microsoft.com/office/powerpoint/2010/main" val="3297894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6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="" xmlns:a16="http://schemas.microsoft.com/office/drawing/2014/main" id="{BBB0C869-7C5C-4070-BD4D-F3FC2DA8F30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="" xmlns:a16="http://schemas.microsoft.com/office/drawing/2014/main" id="{AFE3A2AF-177E-45E6-A191-0F8523DB7F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434408"/>
            <a:ext cx="8545553" cy="830997"/>
          </a:xfrm>
        </p:spPr>
        <p:txBody>
          <a:bodyPr>
            <a:normAutofit/>
          </a:bodyPr>
          <a:lstStyle/>
          <a:p>
            <a:r>
              <a:rPr lang="en-US" sz="3200" dirty="0"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Fuel Type &amp;</a:t>
            </a:r>
            <a:r>
              <a:rPr lang="en-US" sz="3200" dirty="0" smtClean="0"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Transmission </a:t>
            </a:r>
            <a:r>
              <a:rPr lang="en-US" sz="3200" dirty="0"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Premium</a:t>
            </a:r>
            <a:endParaRPr lang="en-US" sz="3200" dirty="0"/>
          </a:p>
        </p:txBody>
      </p:sp>
      <p:sp>
        <p:nvSpPr>
          <p:cNvPr id="7" name="Text Placeholder 30">
            <a:extLst>
              <a:ext uri="{FF2B5EF4-FFF2-40B4-BE49-F238E27FC236}">
                <a16:creationId xmlns="" xmlns:a16="http://schemas.microsoft.com/office/drawing/2014/main" id="{372426BE-BEE7-4A6D-BCD2-059615BBCE25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="" xmlns:a16="http://schemas.microsoft.com/office/drawing/2014/main" id="{E61E227A-5883-4C77-B25A-46A22FFDF41F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9" name="Title 3">
            <a:extLst>
              <a:ext uri="{FF2B5EF4-FFF2-40B4-BE49-F238E27FC236}">
                <a16:creationId xmlns="" xmlns:a16="http://schemas.microsoft.com/office/drawing/2014/main" id="{E25373E9-1A26-4A40-9897-E42DE485D8E3}"/>
              </a:ext>
            </a:extLst>
          </p:cNvPr>
          <p:cNvSpPr txBox="1">
            <a:spLocks/>
          </p:cNvSpPr>
          <p:nvPr/>
        </p:nvSpPr>
        <p:spPr>
          <a:xfrm>
            <a:off x="422959" y="5737443"/>
            <a:ext cx="2981643" cy="83099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8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GB" dirty="0"/>
              <a:t> </a:t>
            </a:r>
            <a:endParaRPr lang="en-IN" b="0" u="sng" dirty="0">
              <a:solidFill>
                <a:srgbClr val="0070C0"/>
              </a:solidFill>
            </a:endParaRPr>
          </a:p>
        </p:txBody>
      </p:sp>
      <p:sp>
        <p:nvSpPr>
          <p:cNvPr id="10" name="Text Placeholder 1">
            <a:extLst>
              <a:ext uri="{FF2B5EF4-FFF2-40B4-BE49-F238E27FC236}">
                <a16:creationId xmlns="" xmlns:a16="http://schemas.microsoft.com/office/drawing/2014/main" id="{B19D8AC7-3787-4ADB-9212-0808F015C2D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07164" y="1431693"/>
            <a:ext cx="4275138" cy="477520"/>
          </a:xfrm>
        </p:spPr>
        <p:txBody>
          <a:bodyPr/>
          <a:lstStyle/>
          <a:p>
            <a:pPr marL="0" indent="0">
              <a:buNone/>
            </a:pPr>
            <a:endParaRPr lang="en-IN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2302" y="1201586"/>
            <a:ext cx="4234226" cy="3604816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522" y="1201585"/>
            <a:ext cx="4766338" cy="3604817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74143" y="4902923"/>
            <a:ext cx="7666008" cy="128240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Diesel cars average ~₹6.9L vs ~₹3.0L (Petrol) and ~₹3.1L (CNG) </a:t>
            </a:r>
            <a:r>
              <a:rPr lang="en-US" sz="1600" dirty="0" smtClean="0">
                <a:latin typeface="Calibri" pitchFamily="34" charset="0"/>
                <a:ea typeface="Calibri" pitchFamily="34" charset="-122"/>
                <a:cs typeface="Calibri" pitchFamily="34" charset="-120"/>
              </a:rPr>
              <a:t>- </a:t>
            </a:r>
            <a:r>
              <a:rPr lang="en-US" sz="16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more than double.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Automatic transmission adds a premium within Petrol (₹4.0L vs ₹3.0L manual).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Caveat: no diesel or CNG automatics exist in this dataset </a:t>
            </a:r>
            <a:r>
              <a:rPr lang="en-US" sz="1600" dirty="0" smtClean="0">
                <a:latin typeface="Calibri" pitchFamily="34" charset="0"/>
                <a:ea typeface="Calibri" pitchFamily="34" charset="-122"/>
                <a:cs typeface="Calibri" pitchFamily="34" charset="-120"/>
              </a:rPr>
              <a:t>- </a:t>
            </a:r>
            <a:r>
              <a:rPr lang="en-US" sz="16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this reads fuel type, not transmission, in isolation.</a:t>
            </a:r>
            <a:endParaRPr lang="en-US" sz="1600" dirty="0"/>
          </a:p>
        </p:txBody>
      </p:sp>
      <p:sp>
        <p:nvSpPr>
          <p:cNvPr id="16" name="TextBox 15"/>
          <p:cNvSpPr txBox="1"/>
          <p:nvPr/>
        </p:nvSpPr>
        <p:spPr>
          <a:xfrm>
            <a:off x="807164" y="112138"/>
            <a:ext cx="1582353" cy="30777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400" dirty="0" smtClean="0"/>
              <a:t>Finding No -3</a:t>
            </a:r>
            <a:endParaRPr lang="en-IN" sz="1400" dirty="0"/>
          </a:p>
        </p:txBody>
      </p:sp>
    </p:spTree>
    <p:extLst>
      <p:ext uri="{BB962C8B-B14F-4D97-AF65-F5344CB8AC3E}">
        <p14:creationId xmlns:p14="http://schemas.microsoft.com/office/powerpoint/2010/main" val="11405974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6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="" xmlns:a16="http://schemas.microsoft.com/office/drawing/2014/main" id="{BBB0C869-7C5C-4070-BD4D-F3FC2DA8F30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="" xmlns:a16="http://schemas.microsoft.com/office/drawing/2014/main" id="{AFE3A2AF-177E-45E6-A191-0F8523DB7F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8666451" cy="830997"/>
          </a:xfrm>
        </p:spPr>
        <p:txBody>
          <a:bodyPr>
            <a:noAutofit/>
          </a:bodyPr>
          <a:lstStyle/>
          <a:p>
            <a:r>
              <a:rPr lang="en-US" sz="3200" dirty="0"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Mileage: A Weaker Predictor Than Expected</a:t>
            </a:r>
            <a:endParaRPr lang="en-US" sz="3200" dirty="0"/>
          </a:p>
        </p:txBody>
      </p:sp>
      <p:sp>
        <p:nvSpPr>
          <p:cNvPr id="7" name="Text Placeholder 30">
            <a:extLst>
              <a:ext uri="{FF2B5EF4-FFF2-40B4-BE49-F238E27FC236}">
                <a16:creationId xmlns="" xmlns:a16="http://schemas.microsoft.com/office/drawing/2014/main" id="{372426BE-BEE7-4A6D-BCD2-059615BBCE25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="" xmlns:a16="http://schemas.microsoft.com/office/drawing/2014/main" id="{E61E227A-5883-4C77-B25A-46A22FFDF41F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9" name="Title 3">
            <a:extLst>
              <a:ext uri="{FF2B5EF4-FFF2-40B4-BE49-F238E27FC236}">
                <a16:creationId xmlns="" xmlns:a16="http://schemas.microsoft.com/office/drawing/2014/main" id="{E25373E9-1A26-4A40-9897-E42DE485D8E3}"/>
              </a:ext>
            </a:extLst>
          </p:cNvPr>
          <p:cNvSpPr txBox="1">
            <a:spLocks/>
          </p:cNvSpPr>
          <p:nvPr/>
        </p:nvSpPr>
        <p:spPr>
          <a:xfrm>
            <a:off x="422959" y="5737443"/>
            <a:ext cx="2981643" cy="83099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8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GB" dirty="0"/>
              <a:t> </a:t>
            </a:r>
            <a:endParaRPr lang="en-IN" b="0" u="sng" dirty="0">
              <a:solidFill>
                <a:srgbClr val="0070C0"/>
              </a:solidFill>
            </a:endParaRPr>
          </a:p>
        </p:txBody>
      </p:sp>
      <p:sp>
        <p:nvSpPr>
          <p:cNvPr id="10" name="Text Placeholder 1">
            <a:extLst>
              <a:ext uri="{FF2B5EF4-FFF2-40B4-BE49-F238E27FC236}">
                <a16:creationId xmlns="" xmlns:a16="http://schemas.microsoft.com/office/drawing/2014/main" id="{B19D8AC7-3787-4ADB-9212-0808F015C2D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07164" y="1431693"/>
            <a:ext cx="4275138" cy="477520"/>
          </a:xfrm>
        </p:spPr>
        <p:txBody>
          <a:bodyPr/>
          <a:lstStyle/>
          <a:p>
            <a:pPr marL="0" indent="0">
              <a:buNone/>
            </a:pPr>
            <a:endParaRPr lang="en-IN" dirty="0"/>
          </a:p>
        </p:txBody>
      </p:sp>
      <p:sp>
        <p:nvSpPr>
          <p:cNvPr id="11" name="Rectangle 10"/>
          <p:cNvSpPr/>
          <p:nvPr/>
        </p:nvSpPr>
        <p:spPr>
          <a:xfrm>
            <a:off x="512690" y="4915947"/>
            <a:ext cx="7666008" cy="172354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Kms</a:t>
            </a:r>
            <a:r>
              <a:rPr lang="en-US" sz="16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Driven vs Selling Price correlation is ≈ 0.00 </a:t>
            </a:r>
            <a:r>
              <a:rPr lang="en-US" sz="1600" dirty="0" smtClean="0">
                <a:latin typeface="Calibri" pitchFamily="34" charset="0"/>
                <a:ea typeface="Calibri" pitchFamily="34" charset="-122"/>
                <a:cs typeface="Calibri" pitchFamily="34" charset="-120"/>
              </a:rPr>
              <a:t>- </a:t>
            </a:r>
            <a:r>
              <a:rPr lang="en-US" sz="16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raw mileage barely moves price in a straight line.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But depreciation rises steadily across mileage buckets (0–25k → 75k–100k) </a:t>
            </a:r>
            <a:r>
              <a:rPr lang="en-US" sz="1600" dirty="0" smtClean="0">
                <a:latin typeface="Calibri" pitchFamily="34" charset="0"/>
                <a:ea typeface="Calibri" pitchFamily="34" charset="-122"/>
                <a:cs typeface="Calibri" pitchFamily="34" charset="-120"/>
              </a:rPr>
              <a:t>- the </a:t>
            </a:r>
            <a:r>
              <a:rPr lang="en-US" sz="16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relationship is non-linear, not absent.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One 500,000 km outlier distorts the raw scatter; bucketed mileage is the safer lens for pricing.</a:t>
            </a:r>
            <a:endParaRPr lang="en-US" sz="1600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6649" y="1078302"/>
            <a:ext cx="4935653" cy="368132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07147" y="1078302"/>
            <a:ext cx="4730151" cy="3681323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07164" y="112138"/>
            <a:ext cx="1582353" cy="30777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400" dirty="0" smtClean="0"/>
              <a:t>Finding No - 4</a:t>
            </a:r>
            <a:endParaRPr lang="en-IN" sz="1400" dirty="0"/>
          </a:p>
        </p:txBody>
      </p:sp>
    </p:spTree>
    <p:extLst>
      <p:ext uri="{BB962C8B-B14F-4D97-AF65-F5344CB8AC3E}">
        <p14:creationId xmlns:p14="http://schemas.microsoft.com/office/powerpoint/2010/main" val="13070759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6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="" xmlns:a16="http://schemas.microsoft.com/office/drawing/2014/main" id="{BBB0C869-7C5C-4070-BD4D-F3FC2DA8F30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="" xmlns:a16="http://schemas.microsoft.com/office/drawing/2014/main" id="{AFE3A2AF-177E-45E6-A191-0F8523DB7F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900" y="370589"/>
            <a:ext cx="7607085" cy="830997"/>
          </a:xfrm>
        </p:spPr>
        <p:txBody>
          <a:bodyPr>
            <a:noAutofit/>
          </a:bodyPr>
          <a:lstStyle/>
          <a:p>
            <a:r>
              <a:rPr lang="en-US" sz="3200" dirty="0"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Ownership History &amp; Seller Type</a:t>
            </a:r>
            <a:endParaRPr lang="en-US" sz="3200" dirty="0"/>
          </a:p>
        </p:txBody>
      </p:sp>
      <p:sp>
        <p:nvSpPr>
          <p:cNvPr id="7" name="Text Placeholder 30">
            <a:extLst>
              <a:ext uri="{FF2B5EF4-FFF2-40B4-BE49-F238E27FC236}">
                <a16:creationId xmlns="" xmlns:a16="http://schemas.microsoft.com/office/drawing/2014/main" id="{372426BE-BEE7-4A6D-BCD2-059615BBCE25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="" xmlns:a16="http://schemas.microsoft.com/office/drawing/2014/main" id="{E61E227A-5883-4C77-B25A-46A22FFDF41F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9" name="Title 3">
            <a:extLst>
              <a:ext uri="{FF2B5EF4-FFF2-40B4-BE49-F238E27FC236}">
                <a16:creationId xmlns="" xmlns:a16="http://schemas.microsoft.com/office/drawing/2014/main" id="{E25373E9-1A26-4A40-9897-E42DE485D8E3}"/>
              </a:ext>
            </a:extLst>
          </p:cNvPr>
          <p:cNvSpPr txBox="1">
            <a:spLocks/>
          </p:cNvSpPr>
          <p:nvPr/>
        </p:nvSpPr>
        <p:spPr>
          <a:xfrm>
            <a:off x="422959" y="5737443"/>
            <a:ext cx="2981643" cy="83099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8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GB" dirty="0"/>
              <a:t> </a:t>
            </a:r>
            <a:endParaRPr lang="en-IN" b="0" u="sng" dirty="0">
              <a:solidFill>
                <a:srgbClr val="0070C0"/>
              </a:solidFill>
            </a:endParaRPr>
          </a:p>
        </p:txBody>
      </p:sp>
      <p:sp>
        <p:nvSpPr>
          <p:cNvPr id="10" name="Text Placeholder 1">
            <a:extLst>
              <a:ext uri="{FF2B5EF4-FFF2-40B4-BE49-F238E27FC236}">
                <a16:creationId xmlns="" xmlns:a16="http://schemas.microsoft.com/office/drawing/2014/main" id="{B19D8AC7-3787-4ADB-9212-0808F015C2D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07164" y="1431693"/>
            <a:ext cx="4275138" cy="477520"/>
          </a:xfrm>
        </p:spPr>
        <p:txBody>
          <a:bodyPr/>
          <a:lstStyle/>
          <a:p>
            <a:pPr marL="0" indent="0">
              <a:buNone/>
            </a:pPr>
            <a:endParaRPr lang="en-IN" dirty="0"/>
          </a:p>
        </p:txBody>
      </p:sp>
      <p:sp>
        <p:nvSpPr>
          <p:cNvPr id="11" name="Rectangle 10"/>
          <p:cNvSpPr/>
          <p:nvPr/>
        </p:nvSpPr>
        <p:spPr>
          <a:xfrm>
            <a:off x="422959" y="4844891"/>
            <a:ext cx="8168950" cy="172354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Zero-owner cars (96.3% of listings) show a much higher median price and wider upside than 1-owner cars.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Seller type is the sharpest split in the data: Dealer median ₹4.98L vs Individual median ₹0.51L </a:t>
            </a:r>
            <a:r>
              <a:rPr lang="en-US" sz="1600" dirty="0" smtClean="0">
                <a:latin typeface="Calibri" pitchFamily="34" charset="0"/>
                <a:ea typeface="Calibri" pitchFamily="34" charset="-122"/>
                <a:cs typeface="Calibri" pitchFamily="34" charset="-120"/>
              </a:rPr>
              <a:t>- </a:t>
            </a:r>
            <a:r>
              <a:rPr lang="en-US" sz="16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roughly 10x.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That gap is likely a quality-tier proxy (dealers stock newer/premium cars), not a standalone “dealer markup” effect.</a:t>
            </a:r>
            <a:endParaRPr lang="en-US" sz="1600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9781" y="1010409"/>
            <a:ext cx="4968815" cy="379599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7661" y="1010409"/>
            <a:ext cx="4632385" cy="379599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07164" y="112138"/>
            <a:ext cx="1582353" cy="30777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400" dirty="0" smtClean="0"/>
              <a:t>Finding No - 5</a:t>
            </a:r>
            <a:endParaRPr lang="en-IN" sz="1400" dirty="0"/>
          </a:p>
        </p:txBody>
      </p:sp>
    </p:spTree>
    <p:extLst>
      <p:ext uri="{BB962C8B-B14F-4D97-AF65-F5344CB8AC3E}">
        <p14:creationId xmlns:p14="http://schemas.microsoft.com/office/powerpoint/2010/main" val="18578133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6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="" xmlns:a16="http://schemas.microsoft.com/office/drawing/2014/main" id="{BBB0C869-7C5C-4070-BD4D-F3FC2DA8F30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="" xmlns:a16="http://schemas.microsoft.com/office/drawing/2014/main" id="{AFE3A2AF-177E-45E6-A191-0F8523DB7F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8114360" cy="830997"/>
          </a:xfrm>
        </p:spPr>
        <p:txBody>
          <a:bodyPr>
            <a:noAutofit/>
          </a:bodyPr>
          <a:lstStyle/>
          <a:p>
            <a:r>
              <a:rPr lang="en-US" sz="3200" dirty="0"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Actually </a:t>
            </a:r>
            <a:r>
              <a:rPr lang="en-US" sz="3200" dirty="0" smtClean="0"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Correlates </a:t>
            </a:r>
            <a:r>
              <a:rPr lang="en-US" sz="3200" dirty="0"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with Price</a:t>
            </a:r>
            <a:endParaRPr lang="en-US" sz="3200" dirty="0"/>
          </a:p>
        </p:txBody>
      </p:sp>
      <p:sp>
        <p:nvSpPr>
          <p:cNvPr id="7" name="Text Placeholder 30">
            <a:extLst>
              <a:ext uri="{FF2B5EF4-FFF2-40B4-BE49-F238E27FC236}">
                <a16:creationId xmlns="" xmlns:a16="http://schemas.microsoft.com/office/drawing/2014/main" id="{372426BE-BEE7-4A6D-BCD2-059615BBCE25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="" xmlns:a16="http://schemas.microsoft.com/office/drawing/2014/main" id="{E61E227A-5883-4C77-B25A-46A22FFDF41F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9" name="Title 3">
            <a:extLst>
              <a:ext uri="{FF2B5EF4-FFF2-40B4-BE49-F238E27FC236}">
                <a16:creationId xmlns="" xmlns:a16="http://schemas.microsoft.com/office/drawing/2014/main" id="{E25373E9-1A26-4A40-9897-E42DE485D8E3}"/>
              </a:ext>
            </a:extLst>
          </p:cNvPr>
          <p:cNvSpPr txBox="1">
            <a:spLocks/>
          </p:cNvSpPr>
          <p:nvPr/>
        </p:nvSpPr>
        <p:spPr>
          <a:xfrm>
            <a:off x="448131" y="5429534"/>
            <a:ext cx="2981643" cy="83099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8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sz="14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Present_Price</a:t>
            </a:r>
            <a:r>
              <a:rPr lang="en-US" sz="1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smtClean="0">
                <a:latin typeface="Calibri" pitchFamily="34" charset="0"/>
                <a:ea typeface="Calibri" pitchFamily="34" charset="-122"/>
                <a:cs typeface="Calibri" pitchFamily="34" charset="-120"/>
              </a:rPr>
              <a:t>-&gt; </a:t>
            </a:r>
            <a:r>
              <a:rPr lang="en-US" sz="1400" dirty="0" err="1" smtClean="0">
                <a:latin typeface="Calibri" pitchFamily="34" charset="0"/>
                <a:ea typeface="Calibri" pitchFamily="34" charset="-122"/>
                <a:cs typeface="Calibri" pitchFamily="34" charset="-120"/>
              </a:rPr>
              <a:t>Selling_Price</a:t>
            </a:r>
            <a:r>
              <a:rPr lang="en-US" sz="1400" dirty="0" smtClean="0"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sz="1400" dirty="0" smtClean="0">
                <a:solidFill>
                  <a:srgbClr val="00B05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0.80</a:t>
            </a:r>
            <a:endParaRPr lang="en-US" sz="1400" dirty="0">
              <a:solidFill>
                <a:srgbClr val="00B050"/>
              </a:solidFill>
            </a:endParaRPr>
          </a:p>
          <a:p>
            <a:endParaRPr lang="en-US" sz="1400" dirty="0"/>
          </a:p>
        </p:txBody>
      </p:sp>
      <p:sp>
        <p:nvSpPr>
          <p:cNvPr id="10" name="Text Placeholder 1">
            <a:extLst>
              <a:ext uri="{FF2B5EF4-FFF2-40B4-BE49-F238E27FC236}">
                <a16:creationId xmlns="" xmlns:a16="http://schemas.microsoft.com/office/drawing/2014/main" id="{B19D8AC7-3787-4ADB-9212-0808F015C2D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07164" y="1431693"/>
            <a:ext cx="4275138" cy="477520"/>
          </a:xfrm>
        </p:spPr>
        <p:txBody>
          <a:bodyPr/>
          <a:lstStyle/>
          <a:p>
            <a:pPr marL="0" indent="0">
              <a:buNone/>
            </a:pPr>
            <a:endParaRPr lang="en-IN" dirty="0"/>
          </a:p>
        </p:txBody>
      </p:sp>
      <p:sp>
        <p:nvSpPr>
          <p:cNvPr id="11" name="Rectangle 10"/>
          <p:cNvSpPr/>
          <p:nvPr/>
        </p:nvSpPr>
        <p:spPr>
          <a:xfrm>
            <a:off x="320982" y="5170490"/>
            <a:ext cx="8168950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400" b="1" u="sng" dirty="0">
                <a:solidFill>
                  <a:schemeClr val="accent1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 </a:t>
            </a:r>
            <a:r>
              <a:rPr lang="en-US" sz="1400" b="1" u="sng" dirty="0" smtClean="0">
                <a:solidFill>
                  <a:schemeClr val="accent1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Readouts :</a:t>
            </a:r>
            <a:endParaRPr lang="en-US" sz="1400" u="sng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4032" y="1059931"/>
            <a:ext cx="8355900" cy="408886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461471" y="6330994"/>
            <a:ext cx="4194689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400" b="1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Kms_Driven</a:t>
            </a:r>
            <a:r>
              <a:rPr lang="en-US" sz="14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-&gt; </a:t>
            </a:r>
            <a:r>
              <a:rPr lang="en-US" sz="1400" b="1" dirty="0" err="1" smtClean="0">
                <a:latin typeface="Calibri" pitchFamily="34" charset="0"/>
                <a:ea typeface="Calibri" pitchFamily="34" charset="-122"/>
                <a:cs typeface="Calibri" pitchFamily="34" charset="-120"/>
              </a:rPr>
              <a:t>Selling_Price</a:t>
            </a:r>
            <a:r>
              <a:rPr lang="en-US" sz="1400" b="1" dirty="0" smtClean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b="1" dirty="0" smtClean="0">
                <a:latin typeface="Trebuchet MS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b="1" dirty="0" smtClean="0">
                <a:solidFill>
                  <a:srgbClr val="C00000"/>
                </a:solidFill>
                <a:latin typeface="Trebuchet MS" pitchFamily="34" charset="0"/>
                <a:ea typeface="Calibri" pitchFamily="34" charset="-122"/>
                <a:cs typeface="Calibri" pitchFamily="34" charset="-120"/>
              </a:rPr>
              <a:t>-</a:t>
            </a:r>
            <a:r>
              <a:rPr lang="en-US" sz="1400" b="1" dirty="0" smtClean="0">
                <a:solidFill>
                  <a:srgbClr val="C000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0.00</a:t>
            </a:r>
            <a:endParaRPr lang="en-US" sz="1400" dirty="0">
              <a:solidFill>
                <a:srgbClr val="C00000"/>
              </a:solidFill>
            </a:endParaRPr>
          </a:p>
          <a:p>
            <a:endParaRPr lang="en-US" sz="1400" dirty="0"/>
          </a:p>
        </p:txBody>
      </p:sp>
      <p:sp>
        <p:nvSpPr>
          <p:cNvPr id="18" name="Rectangle 17"/>
          <p:cNvSpPr/>
          <p:nvPr/>
        </p:nvSpPr>
        <p:spPr>
          <a:xfrm>
            <a:off x="461471" y="5742474"/>
            <a:ext cx="3467103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b="1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Depreciation_Amount</a:t>
            </a:r>
            <a:r>
              <a:rPr lang="en-US" sz="14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-&gt;</a:t>
            </a:r>
            <a:r>
              <a:rPr lang="en-US" sz="1400" b="1" dirty="0" smtClean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b="1" dirty="0" err="1" smtClean="0">
                <a:latin typeface="Calibri" pitchFamily="34" charset="0"/>
                <a:ea typeface="Calibri" pitchFamily="34" charset="-122"/>
                <a:cs typeface="Calibri" pitchFamily="34" charset="-120"/>
              </a:rPr>
              <a:t>Selling_Price</a:t>
            </a:r>
            <a:r>
              <a:rPr lang="en-US" sz="1400" b="1" dirty="0"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en-US" sz="1400" b="1" dirty="0">
                <a:solidFill>
                  <a:schemeClr val="accent6">
                    <a:lumMod val="75000"/>
                  </a:scheme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0.32</a:t>
            </a:r>
            <a:endParaRPr lang="en-US" sz="1400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461471" y="6023217"/>
            <a:ext cx="3038652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b="1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Kms_Driven</a:t>
            </a:r>
            <a:r>
              <a:rPr lang="en-US" sz="14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-&gt;</a:t>
            </a:r>
            <a:r>
              <a:rPr lang="en-US" sz="1400" b="1" dirty="0" smtClean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b="1" dirty="0" err="1" smtClean="0">
                <a:latin typeface="Calibri" pitchFamily="34" charset="0"/>
                <a:ea typeface="Calibri" pitchFamily="34" charset="-122"/>
                <a:cs typeface="Calibri" pitchFamily="34" charset="-120"/>
              </a:rPr>
              <a:t>Depreciation_Pct</a:t>
            </a:r>
            <a:r>
              <a:rPr lang="en-US" sz="1400" b="1" dirty="0"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en-US" sz="1400" b="1" dirty="0">
                <a:solidFill>
                  <a:srgbClr val="2E83C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0.50</a:t>
            </a:r>
            <a:endParaRPr lang="en-US" sz="1400" dirty="0"/>
          </a:p>
        </p:txBody>
      </p:sp>
      <p:sp>
        <p:nvSpPr>
          <p:cNvPr id="20" name="Rectangle 19"/>
          <p:cNvSpPr/>
          <p:nvPr/>
        </p:nvSpPr>
        <p:spPr>
          <a:xfrm>
            <a:off x="7387087" y="2514961"/>
            <a:ext cx="2395268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400" i="1" dirty="0">
                <a:solidFill>
                  <a:schemeClr val="accent1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 Price is the strongest single predictor; mileage predicts % depreciation better than it predicts raw price.</a:t>
            </a:r>
            <a:endParaRPr lang="en-US" sz="14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7763774" y="171665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IN" dirty="0"/>
          </a:p>
        </p:txBody>
      </p:sp>
      <p:sp>
        <p:nvSpPr>
          <p:cNvPr id="38" name="TextBox 37"/>
          <p:cNvSpPr txBox="1"/>
          <p:nvPr/>
        </p:nvSpPr>
        <p:spPr>
          <a:xfrm>
            <a:off x="807164" y="112138"/>
            <a:ext cx="1582353" cy="30777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400" dirty="0" smtClean="0"/>
              <a:t>Finding No - 5</a:t>
            </a:r>
            <a:endParaRPr lang="en-IN" sz="1400" dirty="0"/>
          </a:p>
        </p:txBody>
      </p:sp>
    </p:spTree>
    <p:extLst>
      <p:ext uri="{BB962C8B-B14F-4D97-AF65-F5344CB8AC3E}">
        <p14:creationId xmlns:p14="http://schemas.microsoft.com/office/powerpoint/2010/main" val="33841611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6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="" xmlns:a16="http://schemas.microsoft.com/office/drawing/2014/main" id="{D88C20CF-C1EE-4092-B52D-FD4AB2AB25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376877" y="1177761"/>
            <a:ext cx="11340000" cy="3522304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/>
            <a:r>
              <a:rPr lang="en-US" sz="4800" b="1" i="1" dirty="0" smtClean="0">
                <a:solidFill>
                  <a:schemeClr val="tx1"/>
                </a:solidFill>
              </a:rPr>
              <a:t>Thank you</a:t>
            </a:r>
            <a:endParaRPr lang="en-US" sz="4800" b="1" i="1" dirty="0">
              <a:solidFill>
                <a:schemeClr val="tx1"/>
              </a:solidFill>
            </a:endParaRPr>
          </a:p>
        </p:txBody>
      </p:sp>
      <p:sp>
        <p:nvSpPr>
          <p:cNvPr id="31" name="Text Placeholder 30">
            <a:extLst>
              <a:ext uri="{FF2B5EF4-FFF2-40B4-BE49-F238E27FC236}">
                <a16:creationId xmlns="" xmlns:a16="http://schemas.microsoft.com/office/drawing/2014/main" id="{97AB1F14-3A1E-4057-A473-9975BA59F01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727865" y="4641925"/>
            <a:ext cx="2139695" cy="1108635"/>
          </a:xfrm>
        </p:spPr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17" name="Text Placeholder 28">
            <a:extLst>
              <a:ext uri="{FF2B5EF4-FFF2-40B4-BE49-F238E27FC236}">
                <a16:creationId xmlns="" xmlns:a16="http://schemas.microsoft.com/office/drawing/2014/main" id="{E212CE24-374D-44D0-8F39-0F5A36E42ED7}"/>
              </a:ext>
            </a:extLst>
          </p:cNvPr>
          <p:cNvSpPr txBox="1">
            <a:spLocks/>
          </p:cNvSpPr>
          <p:nvPr/>
        </p:nvSpPr>
        <p:spPr>
          <a:xfrm>
            <a:off x="878337" y="4134780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400" dirty="0"/>
          </a:p>
        </p:txBody>
      </p:sp>
      <p:sp>
        <p:nvSpPr>
          <p:cNvPr id="20" name="Text Placeholder 28">
            <a:extLst>
              <a:ext uri="{FF2B5EF4-FFF2-40B4-BE49-F238E27FC236}">
                <a16:creationId xmlns="" xmlns:a16="http://schemas.microsoft.com/office/drawing/2014/main" id="{A09A5BC1-0E62-4E6B-A590-951A87D4B4FE}"/>
              </a:ext>
            </a:extLst>
          </p:cNvPr>
          <p:cNvSpPr txBox="1">
            <a:spLocks/>
          </p:cNvSpPr>
          <p:nvPr/>
        </p:nvSpPr>
        <p:spPr>
          <a:xfrm>
            <a:off x="5353508" y="3962573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200" dirty="0"/>
          </a:p>
        </p:txBody>
      </p:sp>
      <p:sp>
        <p:nvSpPr>
          <p:cNvPr id="23" name="Text Placeholder 28">
            <a:extLst>
              <a:ext uri="{FF2B5EF4-FFF2-40B4-BE49-F238E27FC236}">
                <a16:creationId xmlns="" xmlns:a16="http://schemas.microsoft.com/office/drawing/2014/main" id="{9E6B148F-F3B6-4E6B-9B85-645C039858E8}"/>
              </a:ext>
            </a:extLst>
          </p:cNvPr>
          <p:cNvSpPr txBox="1">
            <a:spLocks/>
          </p:cNvSpPr>
          <p:nvPr/>
        </p:nvSpPr>
        <p:spPr>
          <a:xfrm>
            <a:off x="7789163" y="3962572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200" dirty="0"/>
          </a:p>
        </p:txBody>
      </p:sp>
      <p:sp>
        <p:nvSpPr>
          <p:cNvPr id="30" name="Text Placeholder 30">
            <a:extLst>
              <a:ext uri="{FF2B5EF4-FFF2-40B4-BE49-F238E27FC236}">
                <a16:creationId xmlns="" xmlns:a16="http://schemas.microsoft.com/office/drawing/2014/main" id="{D3BF02F6-2753-476A-8046-A85AE3A49748}"/>
              </a:ext>
            </a:extLst>
          </p:cNvPr>
          <p:cNvSpPr txBox="1">
            <a:spLocks/>
          </p:cNvSpPr>
          <p:nvPr/>
        </p:nvSpPr>
        <p:spPr>
          <a:xfrm>
            <a:off x="6096000" y="4641925"/>
            <a:ext cx="2139695" cy="1108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dirty="0"/>
          </a:p>
        </p:txBody>
      </p:sp>
      <p:sp>
        <p:nvSpPr>
          <p:cNvPr id="32" name="Text Placeholder 30">
            <a:extLst>
              <a:ext uri="{FF2B5EF4-FFF2-40B4-BE49-F238E27FC236}">
                <a16:creationId xmlns="" xmlns:a16="http://schemas.microsoft.com/office/drawing/2014/main" id="{B993AB29-3A3A-4473-8AC8-86E859C97321}"/>
              </a:ext>
            </a:extLst>
          </p:cNvPr>
          <p:cNvSpPr txBox="1">
            <a:spLocks/>
          </p:cNvSpPr>
          <p:nvPr/>
        </p:nvSpPr>
        <p:spPr>
          <a:xfrm>
            <a:off x="8591363" y="4641925"/>
            <a:ext cx="2139695" cy="1108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/>
              <a:t>.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="" xmlns:a16="http://schemas.microsoft.com/office/drawing/2014/main" id="{BD3F9E86-2FB3-4DB3-9343-59D594F350A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12" name="Text Placeholder 11">
            <a:extLst>
              <a:ext uri="{FF2B5EF4-FFF2-40B4-BE49-F238E27FC236}">
                <a16:creationId xmlns="" xmlns:a16="http://schemas.microsoft.com/office/drawing/2014/main" id="{BC277FD7-925B-4C3D-A364-1184032015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205644" y="3396659"/>
            <a:ext cx="2174957" cy="453197"/>
          </a:xfrm>
        </p:spPr>
        <p:txBody>
          <a:bodyPr>
            <a:normAutofit fontScale="85000" lnSpcReduction="10000"/>
          </a:bodyPr>
          <a:lstStyle/>
          <a:p>
            <a:r>
              <a:rPr lang="en-US" dirty="0" smtClean="0">
                <a:solidFill>
                  <a:srgbClr val="00B0F0"/>
                </a:solidFill>
                <a:hlinkClick r:id="rId3"/>
              </a:rPr>
              <a:t>Demo Link - Click it</a:t>
            </a:r>
            <a:endParaRPr lang="en-IN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017487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8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/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4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6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5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4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1" grpId="0" build="p"/>
      <p:bldP spid="17" grpId="0"/>
      <p:bldP spid="20" grpId="0"/>
      <p:bldP spid="23" grpId="0"/>
      <p:bldP spid="30" grpId="0"/>
      <p:bldP spid="32" grpId="0"/>
    </p:bldLst>
  </p:timing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0B5AB586-D108-4FC1-8368-649FE654B89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426e97fa315356fffbdcd9876fe988c2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14b8f0def80e6d70ce3def20c90759ae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4DEA9014-ED64-4558-B1E1-D03F0EE32BEB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2.xml><?xml version="1.0" encoding="utf-8"?>
<ds:datastoreItem xmlns:ds="http://schemas.openxmlformats.org/officeDocument/2006/customXml" ds:itemID="{B19EB750-A6DA-4BE8-B87B-FC499FE7336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05D99ABA-76CE-4A8E-B5F0-C051B96628DE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693</TotalTime>
  <Words>642</Words>
  <Application>Microsoft Office PowerPoint</Application>
  <PresentationFormat>Widescreen</PresentationFormat>
  <Paragraphs>64</Paragraphs>
  <Slides>12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9" baseType="lpstr">
      <vt:lpstr>Arial</vt:lpstr>
      <vt:lpstr>Arial Black</vt:lpstr>
      <vt:lpstr>Calibri</vt:lpstr>
      <vt:lpstr>Trebuchet MS</vt:lpstr>
      <vt:lpstr>Wingdings</vt:lpstr>
      <vt:lpstr>Wingdings 3</vt:lpstr>
      <vt:lpstr>Facet</vt:lpstr>
      <vt:lpstr>CAR MARKET TREND ANALYSIS </vt:lpstr>
      <vt:lpstr>PROBLEM  STATEMENT</vt:lpstr>
      <vt:lpstr>Dataset Overview  </vt:lpstr>
      <vt:lpstr>WHO ARE THE END USERS?</vt:lpstr>
      <vt:lpstr>Technology Used</vt:lpstr>
      <vt:lpstr>Selling Price Distribution</vt:lpstr>
      <vt:lpstr>Depreciation Trend by Car Age</vt:lpstr>
      <vt:lpstr>Fuel Type &amp;Transmission Premium</vt:lpstr>
      <vt:lpstr>Mileage: A Weaker Predictor Than Expected</vt:lpstr>
      <vt:lpstr>Ownership History &amp; Seller Type</vt:lpstr>
      <vt:lpstr>What Actually Correlates with Price</vt:lpstr>
      <vt:lpstr>Thank you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MASKED HUNTERS</dc:title>
  <dc:creator>Venkataswamy</dc:creator>
  <cp:lastModifiedBy>Microsoft account</cp:lastModifiedBy>
  <cp:revision>88</cp:revision>
  <dcterms:created xsi:type="dcterms:W3CDTF">2021-07-11T13:13:15Z</dcterms:created>
  <dcterms:modified xsi:type="dcterms:W3CDTF">2026-08-29T15:24:35Z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