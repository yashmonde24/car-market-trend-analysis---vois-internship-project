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7"/>
  </p:notesMasterIdLst>
  <p:handoutMasterIdLst>
    <p:handoutMasterId r:id="rId18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2" r:id="rId12"/>
    <p:sldId id="341" r:id="rId13"/>
    <p:sldId id="343" r:id="rId14"/>
    <p:sldId id="344" r:id="rId15"/>
    <p:sldId id="30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9" d="100"/>
          <a:sy n="89" d="100"/>
        </p:scale>
        <p:origin x="37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=""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=""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=""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=""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=""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=""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=""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=""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=""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=""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=""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=""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=""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=""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=""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=""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=""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=""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=""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=""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=""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=""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=""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=""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=""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=""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=""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=""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=""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=""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=""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=""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hmonde24/Car-Market-Trend-Analysis---VOIS-Internship-Projec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8709" y="4402083"/>
            <a:ext cx="3717985" cy="596447"/>
          </a:xfrm>
        </p:spPr>
        <p:txBody>
          <a:bodyPr>
            <a:noAutofit/>
          </a:bodyPr>
          <a:lstStyle/>
          <a:p>
            <a:pPr algn="r"/>
            <a:r>
              <a:rPr lang="en-US" sz="11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Name : </a:t>
            </a:r>
            <a:r>
              <a:rPr lang="en-US" sz="11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Yash</a:t>
            </a:r>
            <a:r>
              <a:rPr lang="en-US" sz="11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Sanjay Monde </a:t>
            </a:r>
          </a:p>
          <a:p>
            <a:pPr algn="r"/>
            <a:r>
              <a:rPr lang="en-IN" sz="1100" dirty="0" err="1" smtClean="0">
                <a:solidFill>
                  <a:schemeClr val="tx1"/>
                </a:solidFill>
                <a:latin typeface="Arial Black" panose="020B0A04020102020204" pitchFamily="34" charset="0"/>
              </a:rPr>
              <a:t>Aicte</a:t>
            </a:r>
            <a:r>
              <a:rPr lang="en-IN" sz="11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ID : STU69f055805a3e71777358208</a:t>
            </a:r>
            <a:endParaRPr lang="en-IN" sz="11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959" y="2788944"/>
            <a:ext cx="9583947" cy="1613139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 </a:t>
            </a:r>
            <a:r>
              <a:rPr lang="en-US" sz="3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</a:t>
            </a:r>
            <a:r>
              <a:rPr lang="en-US" sz="3200" b="1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 </a:t>
            </a:r>
            <a:r>
              <a:rPr lang="en-US" sz="32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r>
              <a:rPr lang="en-US" sz="3200" dirty="0"/>
              <a:t/>
            </a:r>
            <a:br>
              <a:rPr lang="en-US" sz="3200" dirty="0"/>
            </a:b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959" y="3318802"/>
            <a:ext cx="67889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Depreciation Insights from the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Used-Car Dataset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2102230"/>
            <a:ext cx="7786969" cy="36079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Used-car prices are shaped by several interacting factors </a:t>
            </a:r>
            <a:r>
              <a:rPr lang="en-US" sz="1600" b="1" dirty="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mileage, fuel type, ownership history, seller type </a:t>
            </a:r>
            <a:r>
              <a:rPr lang="en-US" sz="1600" b="1" dirty="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listings rarely price consistently against them.</a:t>
            </a:r>
            <a:endParaRPr lang="en-US" sz="1600" b="1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uses </a:t>
            </a:r>
            <a:r>
              <a:rPr lang="en-US" sz="1600" b="1" dirty="0" err="1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</a:t>
            </a:r>
            <a:r>
              <a:rPr lang="en-US" sz="1600" b="1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to answer one </a:t>
            </a:r>
            <a:r>
              <a:rPr lang="en-US" sz="1600" b="1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:</a:t>
            </a:r>
          </a:p>
          <a:p>
            <a:pPr marL="0" indent="0" algn="just">
              <a:buNone/>
            </a:pPr>
            <a:r>
              <a:rPr lang="en-US" sz="1600" b="1" i="1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</a:t>
            </a:r>
            <a:r>
              <a:rPr lang="en-US" sz="1600" i="1" dirty="0" smtClean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</a:t>
            </a:r>
            <a:r>
              <a:rPr lang="en-US" sz="1600" i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actually move resale price </a:t>
            </a:r>
            <a:r>
              <a:rPr lang="en-US" sz="1600" i="1" dirty="0" smtClean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which ones, despite intuition, </a:t>
            </a:r>
            <a:r>
              <a:rPr lang="en-US" sz="1600" i="1" dirty="0" smtClean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</a:t>
            </a:r>
            <a:r>
              <a:rPr lang="en-US" sz="1600" i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1101225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2C3C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0452" y="2061410"/>
            <a:ext cx="1069680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  Source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CarDekho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used-car </a:t>
            </a:r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listings.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- </a:t>
            </a:r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301 (299 after removing 2 duplicates</a:t>
            </a:r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- </a:t>
            </a:r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Car_Name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Year, </a:t>
            </a:r>
            <a:r>
              <a:rPr lang="en-US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Selling_Price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Present_Price</a:t>
            </a:r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Kms_Driven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Fuel_Type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Seller_Type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endParaRPr lang="en-US" b="1" dirty="0" smtClean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 Transmission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Owner.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  Missing 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values: 0 across all </a:t>
            </a:r>
            <a:r>
              <a:rPr lang="en-US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columns.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261" y="921199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21359" y="2024377"/>
            <a:ext cx="853478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Used-car buyers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Benchmark whether an asking price is fair given age, mileage, and ownership history.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 sellers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 realistic prices instead of anchoring on original purchase price.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Dealerships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Use fuel type, ownership tier and mileage bucket as pricing levers when acquiring/reselling stock.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marketplaces (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e.g</a:t>
            </a:r>
            <a:r>
              <a:rPr lang="en-US" altLang="en-US" sz="18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CarDekho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Feed these variables into an automated valuation/pricing model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Analysts/data teams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 reference EDA for a resale-value prediction model (features and correlations already scoped). 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dirty="0" smtClean="0">
                <a:solidFill>
                  <a:schemeClr val="tx1"/>
                </a:solidFill>
              </a:rPr>
              <a:t>Python Library :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tx1"/>
                </a:solidFill>
              </a:rPr>
              <a:t>-   Pandas for data loading and manipulation.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dirty="0" err="1" smtClean="0">
                <a:solidFill>
                  <a:schemeClr val="tx1"/>
                </a:solidFill>
              </a:rPr>
              <a:t>Matplotlib</a:t>
            </a:r>
            <a:r>
              <a:rPr lang="en-US" dirty="0" smtClean="0">
                <a:solidFill>
                  <a:schemeClr val="tx1"/>
                </a:solidFill>
              </a:rPr>
              <a:t> and </a:t>
            </a:r>
            <a:r>
              <a:rPr lang="en-US" dirty="0" err="1" smtClean="0">
                <a:solidFill>
                  <a:schemeClr val="tx1"/>
                </a:solidFill>
              </a:rPr>
              <a:t>Seaborn</a:t>
            </a:r>
            <a:r>
              <a:rPr lang="en-US" dirty="0" smtClean="0">
                <a:solidFill>
                  <a:schemeClr val="tx1"/>
                </a:solidFill>
              </a:rPr>
              <a:t> for data visualization.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solidFill>
                  <a:schemeClr val="tx1"/>
                </a:solidFill>
              </a:rPr>
              <a:t>Microsoft Power Point for analysis reports and presentation.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7976337" cy="83099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Selling Price Distribution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89" y="1154392"/>
            <a:ext cx="8248609" cy="34262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981" y="4767601"/>
            <a:ext cx="8012135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 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most cars cluster in the ₹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0-2L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range, with a long tail out to ₹35L.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Median (₹3.60L) sits well below the mean (₹4.66L) 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high-value listings pull the average up.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benchmark typical pricing against the median, not the mean.</a:t>
            </a:r>
            <a:endParaRPr lang="en-US" sz="1600" dirty="0"/>
          </a:p>
          <a:p>
            <a:endParaRPr lang="en-IN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No -1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27805"/>
            <a:ext cx="8045349" cy="8737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Depreciation Trend by Car Age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1" y="1201587"/>
            <a:ext cx="7511803" cy="3353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5957" y="4628531"/>
            <a:ext cx="7156828" cy="2236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Price falls from ~₹9.3L at 8 years old to under ₹1L by 18–19 years 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expected depreciation curve.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trend gets noisy past 15 years 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each age bucket has very few listings, so late-life upticks (e.g. age 21) likely reflect a handful of well-kept or rare cars, not a market reversal.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treat age-based pricing beyond ~15 years as low-confidence given sample size.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No -2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9789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434408"/>
            <a:ext cx="8545553" cy="83099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Fuel Type &amp;</a:t>
            </a:r>
            <a:r>
              <a:rPr lang="en-US" sz="3200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Transmission </a:t>
            </a:r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302" y="1201586"/>
            <a:ext cx="4234226" cy="3604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22" y="1201585"/>
            <a:ext cx="4766338" cy="360481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4143" y="4902923"/>
            <a:ext cx="7666008" cy="1282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Diesel cars average ~₹6.9L vs ~₹3.0L (Petrol) and ~₹3.1L (CNG) 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more than double.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transmission adds a premium within Petrol (₹4.0L vs ₹3.0L manual).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Caveat: no diesel or CNG automatics exist in this dataset 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reads fuel type, not transmission, in isolation.</a:t>
            </a:r>
            <a:endParaRPr 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No -3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4059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666451" cy="83099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Mileage: A Weaker Predictor Than Expected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512690" y="4915947"/>
            <a:ext cx="7666008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Kms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Driven vs Selling Price correlation is ≈ 0.00 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raw mileage barely moves price in a straight line.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But depreciation rises steadily across mileage buckets (0–25k → 75k–100k) 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 the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is non-linear, not absent.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 500,000 km outlier distorts the raw scatter; bucketed mileage is the safer lens for pricing.</a:t>
            </a:r>
            <a:endParaRPr lang="en-US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49" y="1078302"/>
            <a:ext cx="4935653" cy="36813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147" y="1078302"/>
            <a:ext cx="4730151" cy="36813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No - 4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0707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00" y="370589"/>
            <a:ext cx="7607085" cy="83099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 History &amp; Seller Type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22959" y="4844891"/>
            <a:ext cx="8168950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Zero-owner cars (96.3% of listings) show a much higher median price and wider upside than 1-owner cars.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Seller type is the sharpest split in the data: Dealer median ₹4.98L vs Individual median ₹0.51L </a:t>
            </a:r>
            <a:r>
              <a:rPr lang="en-US" sz="16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roughly 10x.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likely a quality-tier proxy (dealers stock newer/premium cars), not a standalone “dealer markup” effect.</a:t>
            </a:r>
            <a:endParaRPr 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81" y="1010409"/>
            <a:ext cx="4968815" cy="379599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661" y="1010409"/>
            <a:ext cx="4632385" cy="37959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No - 5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85781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=""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114360" cy="83099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Actually </a:t>
            </a:r>
            <a:r>
              <a:rPr lang="en-US" sz="3200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Correlates </a:t>
            </a:r>
            <a:r>
              <a:rPr lang="en-US" sz="3200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Price</a:t>
            </a:r>
            <a:endParaRPr lang="en-US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=""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=""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=""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48131" y="5429534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Present_Price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-&gt; </a:t>
            </a:r>
            <a:r>
              <a:rPr lang="en-US" sz="140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Selling_Price</a:t>
            </a:r>
            <a:r>
              <a:rPr lang="en-US" sz="14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 smtClean="0">
                <a:solidFill>
                  <a:srgbClr val="00B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0.80</a:t>
            </a:r>
            <a:endParaRPr lang="en-US" sz="1400" dirty="0">
              <a:solidFill>
                <a:srgbClr val="00B050"/>
              </a:solidFill>
            </a:endParaRPr>
          </a:p>
          <a:p>
            <a:endParaRPr lang="en-US" sz="14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20982" y="5170490"/>
            <a:ext cx="81689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</a:t>
            </a:r>
            <a:r>
              <a:rPr lang="en-US" sz="1400" b="1" u="sng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Readouts :</a:t>
            </a:r>
            <a:endParaRPr lang="en-US" sz="14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32" y="1059931"/>
            <a:ext cx="8355900" cy="40888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61471" y="6330994"/>
            <a:ext cx="41946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Kms_Driven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-&gt; </a:t>
            </a:r>
            <a:r>
              <a:rPr lang="en-US" sz="14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Selling_Price</a:t>
            </a:r>
            <a:r>
              <a:rPr lang="en-US" sz="14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smtClean="0">
                <a:latin typeface="Trebuchet MS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smtClean="0">
                <a:solidFill>
                  <a:srgbClr val="C00000"/>
                </a:solidFill>
                <a:latin typeface="Trebuchet MS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b="1" dirty="0" smtClean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</a:t>
            </a:r>
            <a:endParaRPr lang="en-US" sz="1400" dirty="0">
              <a:solidFill>
                <a:srgbClr val="C00000"/>
              </a:solidFill>
            </a:endParaRPr>
          </a:p>
          <a:p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461471" y="5742474"/>
            <a:ext cx="34671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Depreciation_Amount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lang="en-US" sz="14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Selling_Price</a:t>
            </a: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0.32</a:t>
            </a:r>
            <a:endParaRPr lang="en-US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61471" y="6023217"/>
            <a:ext cx="30386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Kms_Driven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lang="en-US" sz="140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Depreciation_Pct</a:t>
            </a: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2E83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0.50</a:t>
            </a:r>
            <a:endParaRPr lang="en-US" sz="1400" dirty="0"/>
          </a:p>
        </p:txBody>
      </p:sp>
      <p:sp>
        <p:nvSpPr>
          <p:cNvPr id="20" name="Rectangle 19"/>
          <p:cNvSpPr/>
          <p:nvPr/>
        </p:nvSpPr>
        <p:spPr>
          <a:xfrm>
            <a:off x="7387087" y="2514961"/>
            <a:ext cx="23952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Price is the strongest single predictor; mileage predicts % depreciation better than it predicts raw price.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63774" y="1716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807164" y="112138"/>
            <a:ext cx="1582353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Finding No - 5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38416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76877" y="1177761"/>
            <a:ext cx="11340000" cy="352230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i="1" dirty="0" smtClean="0">
                <a:solidFill>
                  <a:schemeClr val="tx1"/>
                </a:solidFill>
              </a:rPr>
              <a:t>Thank you</a:t>
            </a:r>
            <a:endParaRPr lang="en-US" sz="4800" b="1" i="1" dirty="0">
              <a:solidFill>
                <a:schemeClr val="tx1"/>
              </a:solidFill>
            </a:endParaRPr>
          </a:p>
        </p:txBody>
      </p:sp>
      <p:sp>
        <p:nvSpPr>
          <p:cNvPr id="17" name="Text Placeholder 28">
            <a:extLst>
              <a:ext uri="{FF2B5EF4-FFF2-40B4-BE49-F238E27FC236}">
                <a16:creationId xmlns=""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=""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=""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=""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=""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=""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5644" y="3396659"/>
            <a:ext cx="2174957" cy="453197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hlinkClick r:id="rId3"/>
              </a:rPr>
              <a:t>Demo Link - Click it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698</TotalTime>
  <Words>642</Words>
  <Application>Microsoft Office PowerPoint</Application>
  <PresentationFormat>Widescreen</PresentationFormat>
  <Paragraphs>64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Trebuchet MS</vt:lpstr>
      <vt:lpstr>Wingdings</vt:lpstr>
      <vt:lpstr>Wingdings 3</vt:lpstr>
      <vt:lpstr>Facet</vt:lpstr>
      <vt:lpstr>CAR MARKET TREND ANALYSIS </vt:lpstr>
      <vt:lpstr>PROBLEM  STATEMENT</vt:lpstr>
      <vt:lpstr>Dataset Overview  </vt:lpstr>
      <vt:lpstr>WHO ARE THE END USERS?</vt:lpstr>
      <vt:lpstr>Technology Used</vt:lpstr>
      <vt:lpstr>Selling Price Distribution</vt:lpstr>
      <vt:lpstr>Depreciation Trend by Car Age</vt:lpstr>
      <vt:lpstr>Fuel Type &amp;Transmission Premium</vt:lpstr>
      <vt:lpstr>Mileage: A Weaker Predictor Than Expected</vt:lpstr>
      <vt:lpstr>Ownership History &amp; Seller Type</vt:lpstr>
      <vt:lpstr>What Actually Correlates with Price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Microsoft account</cp:lastModifiedBy>
  <cp:revision>90</cp:revision>
  <dcterms:created xsi:type="dcterms:W3CDTF">2021-07-11T13:13:15Z</dcterms:created>
  <dcterms:modified xsi:type="dcterms:W3CDTF">2026-08-31T03:45:39Z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